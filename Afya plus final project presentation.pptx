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2410"/>
    <p:restoredTop sz="94612"/>
  </p:normalViewPr>
  <p:slideViewPr>
    <p:cSldViewPr snapToGrid="0">
      <p:cViewPr varScale="1">
        <p:scale>
          <a:sx n="20" d="100"/>
          <a:sy n="20" d="100"/>
        </p:scale>
        <p:origin x="208" y="19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8312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user-supplied README.md, commit 2792a90. https://github.com/skipper14/AfyaPlus-AI-Health-Operations-System/commit/2792a90</a:t>
            </a:r>
          </a:p>
          <a:p>
            <a:r>
              <a:t>Problem and audience from the user’s original eight-slide brief. Clinical oversight is a recommended presentation framing, not a verified deployment control. No clinical effectiveness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user-supplied README.md, commit 2792a90. https://github.com/skipper14/AfyaPlus-AI-Health-Operations-System/commit/2792a90</a:t>
            </a:r>
          </a:p>
          <a:p>
            <a:r>
              <a:t>README Project path and Week reuse sections. The alternative domain/field route is unchecked. Design intent is to preserve data integrity across integrated modules. Local MCP remains a stub.</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user-supplied README.md, commit 2792a90. https://github.com/skipper14/AfyaPlus-AI-Health-Operations-System/commit/2792a90</a:t>
            </a:r>
          </a:p>
          <a:p>
            <a:r>
              <a:t>Three-tier abstraction from the user outline and README. The diagram is a conceptual control sequence, not a verified call graph. The incident note reports remediation in redact_then_hash_payload. Hashing alone does not establish anonymity. API source code and the full guard implementation were not supplied.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user-supplied README.md, commit 2792a90. https://github.com/skipper14/AfyaPlus-AI-Health-Operations-System/commit/2792a90</a:t>
            </a:r>
          </a:p>
          <a:p>
            <a:r>
              <a:t>Exact file mappings from the supplied README Week reuse section. Weeks 1–5 do not name a specific implementation file, so README.md is the source reference. Build checkpoint details are referenced at docs/build_checkpoint.md but were not supplied.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user-supplied README.md, commit 2792a90. https://github.com/skipper14/AfyaPlus-AI-Health-Operations-System/commit/2792a90</a:t>
            </a:r>
          </a:p>
          <a:p>
            <a:r>
              <a:t>The uvicorn command comes directly from the README. TRIAGE_URL is an explicit placeholder variable for the missing endpoint, not a verified route. The supplied health and POST URLs truncate at http://127.0.0. The request body and test_token are synthetic examples from the source, not live credentials. The original brief requests a blocked HTTP 400 injection attempt, but no fixture, guard code or observed response was supplied. Do not present the expected status as captured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user-supplied README.md, commit 2792a90. https://github.com/skipper14/AfyaPlus-AI-Health-Operations-System/commit/2792a90</a:t>
            </a:r>
          </a:p>
          <a:p>
            <a:r>
              <a:t>Sources: user-pasted Core Testing Pyramid test excerpt, README Dataset and Testing sections, incident note. Unit test checks one example of fever plus low blood pressure. Integration test asserts calculate_system_evaluation_score() == 1.00, without function implementation or dataset-level results. The docstring’s perfect precision language is therefore not treated as a measured result. The incident note reports green security checks, but no CI run or terminal output accompanies it. No tests executed for this presentation. Commands: python -m pytest -m unit; python -m pytest -m integration; python -m pytest tests/test_security_smoke.py.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user-supplied README.md, commit 2792a90. https://github.com/skipper14/AfyaPlus-AI-Health-Operations-System/commit/2792a90</a:t>
            </a:r>
          </a:p>
          <a:p>
            <a:r>
              <a:t>Incident source: user-supplied Diagnostic Record Log Leak note dated 2026-10-12. The note reports a masking defect when authorization input has leading whitespace, a SHA-256 remediation and green security smoke checks. The historical fragment is not reproduced to avoid implying it is current logic. No fix implementation or run output supplied. Hashing is not evidence of anonymisation or full legal compliance. README states KDPA 2019 alignment, declares retention loops, says MCP cannot dump environment or every clinic, and explicitly marks legal review pending on lawful_basis. No legal opinion is offered. Asset inventory and retention sweep evidence are requested technical checkpoints rather than verified artifacts.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user-supplied README.md, commit 2792a90. https://github.com/skipper14/AfyaPlus-AI-Health-Operations-System/commit/2792a90</a:t>
            </a:r>
          </a:p>
          <a:p>
            <a:r>
              <a:t>Source: inline AfyaPlus FinOps Cost Management Forecast. These are project forecasts, not independently verified vendor rates or actual bills. Baseline: $17.90 + $520.00 = $537.90; $537.90 / 100 = $5.3790 per 1,000 requests. Surge: $179.01 + $800.00 = $979.01; $979.01 / 1000 = $0.97901, displayed $0.9790. Lower per-request allocation reflects spreading infrastructure costs over higher volume. The provided rate snapshot names gpt-4o-mini and says rates verified 2026-10-11, but no rate sheet or token assumptions supplied. Cache hit rate 62.5% is reported, not independently measured. All implementation status is based on supplied README and incident note. README declares no Azure Key Vault, no AWS account, local MCP stub, local-env plus twin JSON and legal review pending on lawful_basis. Full production readiness is not established by these excerpts.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3462294"/>
      </p:ext>
    </p:extLst>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EEC0244-181B-4E48-BB76-A1AE8A229AD7}"/>
              </a:ext>
            </a:extLst>
          </p:cNvPr>
          <p:cNvSpPr>
            <a:spLocks noGrp="1"/>
          </p:cNvSpPr>
          <p:nvPr/>
        </p:nvSpPr>
        <p:spPr>
          <a:xfrm>
            <a:off x="533400" y="247650"/>
            <a:ext cx="3810000" cy="228600"/>
          </a:xfrm>
          <a:prstGeom prst="rect">
            <a:avLst/>
          </a:prstGeom>
          <a:noFill/>
          <a:ln w="0">
            <a:noFill/>
          </a:ln>
        </p:spPr>
        <p:txBody>
          <a:bodyPr anchor="t">
            <a:noAutofit/>
          </a:bodyPr>
          <a:lstStyle/>
          <a:p>
            <a:pPr>
              <a:defRPr sz="1200" b="1">
                <a:solidFill>
                  <a:srgbClr val="087E83"/>
                </a:solidFill>
                <a:latin typeface="Arial"/>
                <a:ea typeface="Arial"/>
                <a:cs typeface="Arial"/>
              </a:defRPr>
            </a:pPr>
            <a:r>
              <a:rPr sz="1200" b="1">
                <a:solidFill>
                  <a:srgbClr val="087E83"/>
                </a:solidFill>
                <a:latin typeface="Arial"/>
                <a:ea typeface="Arial"/>
                <a:cs typeface="Arial"/>
              </a:rPr>
              <a:t>AFYAPLUS AI</a:t>
            </a:r>
          </a:p>
        </p:txBody>
      </p:sp>
      <p:sp>
        <p:nvSpPr>
          <p:cNvPr id="2" name="Rectangle 1">
            <a:extLst>
              <a:ext uri="{FF2B5EF4-FFF2-40B4-BE49-F238E27FC236}">
                <a16:creationId xmlns:a16="http://schemas.microsoft.com/office/drawing/2014/main" id="{CF62D11A-8DE2-468D-BAE8-145F60E9BA2B}"/>
              </a:ext>
            </a:extLst>
          </p:cNvPr>
          <p:cNvSpPr>
            <a:spLocks noGrp="1"/>
          </p:cNvSpPr>
          <p:nvPr/>
        </p:nvSpPr>
        <p:spPr>
          <a:xfrm>
            <a:off x="11068050" y="247650"/>
            <a:ext cx="590550" cy="228600"/>
          </a:xfrm>
          <a:prstGeom prst="rect">
            <a:avLst/>
          </a:prstGeom>
          <a:noFill/>
          <a:ln w="0">
            <a:noFill/>
          </a:ln>
        </p:spPr>
        <p:txBody>
          <a:bodyPr anchor="t">
            <a:noAutofit/>
          </a:bodyPr>
          <a:lstStyle/>
          <a:p>
            <a:pPr>
              <a:defRPr sz="1200" b="1">
                <a:solidFill>
                  <a:srgbClr val="087E83"/>
                </a:solidFill>
                <a:latin typeface="Arial"/>
                <a:ea typeface="Arial"/>
                <a:cs typeface="Arial"/>
              </a:defRPr>
            </a:pPr>
            <a:r>
              <a:rPr sz="1200" b="1">
                <a:solidFill>
                  <a:srgbClr val="087E83"/>
                </a:solidFill>
                <a:latin typeface="Arial"/>
                <a:ea typeface="Arial"/>
                <a:cs typeface="Arial"/>
              </a:rPr>
              <a:t>01</a:t>
            </a:r>
          </a:p>
        </p:txBody>
      </p:sp>
      <p:sp>
        <p:nvSpPr>
          <p:cNvPr id="3" name="Rectangle 2">
            <a:extLst>
              <a:ext uri="{FF2B5EF4-FFF2-40B4-BE49-F238E27FC236}">
                <a16:creationId xmlns:a16="http://schemas.microsoft.com/office/drawing/2014/main" id="{240EEADD-EFB9-4BCC-8481-E476CF9CD2EC}"/>
              </a:ext>
            </a:extLst>
          </p:cNvPr>
          <p:cNvSpPr>
            <a:spLocks noGrp="1"/>
          </p:cNvSpPr>
          <p:nvPr/>
        </p:nvSpPr>
        <p:spPr>
          <a:xfrm>
            <a:off x="533400" y="714375"/>
            <a:ext cx="11125200" cy="666750"/>
          </a:xfrm>
          <a:prstGeom prst="rect">
            <a:avLst/>
          </a:prstGeom>
          <a:noFill/>
          <a:ln w="0">
            <a:noFill/>
          </a:ln>
        </p:spPr>
        <p:txBody>
          <a:bodyPr anchor="t">
            <a:noAutofit/>
          </a:bodyPr>
          <a:lstStyle/>
          <a:p>
            <a:pPr>
              <a:defRPr sz="3300" b="1">
                <a:solidFill>
                  <a:srgbClr val="17313A"/>
                </a:solidFill>
                <a:latin typeface="Arial"/>
                <a:ea typeface="Arial"/>
                <a:cs typeface="Arial"/>
              </a:defRPr>
            </a:pPr>
            <a:r>
              <a:rPr sz="3300" b="1">
                <a:solidFill>
                  <a:srgbClr val="17313A"/>
                </a:solidFill>
                <a:latin typeface="Arial"/>
                <a:ea typeface="Arial"/>
                <a:cs typeface="Arial"/>
              </a:rPr>
              <a:t>Problem and user definition</a:t>
            </a:r>
          </a:p>
        </p:txBody>
      </p:sp>
      <p:sp>
        <p:nvSpPr>
          <p:cNvPr id="4" name="Rectangle 3">
            <a:extLst>
              <a:ext uri="{FF2B5EF4-FFF2-40B4-BE49-F238E27FC236}">
                <a16:creationId xmlns:a16="http://schemas.microsoft.com/office/drawing/2014/main" id="{34859D1C-D4AE-49EE-8454-7ED5CDB53150}"/>
              </a:ext>
            </a:extLst>
          </p:cNvPr>
          <p:cNvSpPr>
            <a:spLocks noGrp="1"/>
          </p:cNvSpPr>
          <p:nvPr/>
        </p:nvSpPr>
        <p:spPr>
          <a:xfrm>
            <a:off x="533400" y="6334125"/>
            <a:ext cx="11125200" cy="19050"/>
          </a:xfrm>
          <a:prstGeom prst="rect">
            <a:avLst/>
          </a:prstGeom>
          <a:solidFill>
            <a:srgbClr val="CCDCDA"/>
          </a:solidFill>
          <a:ln w="0">
            <a:noFill/>
          </a:ln>
        </p:spPr>
        <p:txBody>
          <a:bodyPr/>
          <a:lstStyle/>
          <a:p>
            <a:endParaRPr lang="en-US"/>
          </a:p>
        </p:txBody>
      </p:sp>
      <p:sp>
        <p:nvSpPr>
          <p:cNvPr id="5" name="Rectangle 4">
            <a:extLst>
              <a:ext uri="{FF2B5EF4-FFF2-40B4-BE49-F238E27FC236}">
                <a16:creationId xmlns:a16="http://schemas.microsoft.com/office/drawing/2014/main" id="{4576EE5E-5B18-4267-A32F-C835E59914A9}"/>
              </a:ext>
            </a:extLst>
          </p:cNvPr>
          <p:cNvSpPr>
            <a:spLocks noGrp="1"/>
          </p:cNvSpPr>
          <p:nvPr/>
        </p:nvSpPr>
        <p:spPr>
          <a:xfrm>
            <a:off x="533400" y="6457950"/>
            <a:ext cx="8572500" cy="200025"/>
          </a:xfrm>
          <a:prstGeom prst="rect">
            <a:avLst/>
          </a:prstGeom>
          <a:noFill/>
          <a:ln w="0">
            <a:noFill/>
          </a:ln>
        </p:spPr>
        <p:txBody>
          <a:bodyPr anchor="t">
            <a:noAutofit/>
          </a:bodyPr>
          <a:lstStyle/>
          <a:p>
            <a:pPr>
              <a:defRPr sz="1125" b="0">
                <a:solidFill>
                  <a:srgbClr val="536A70"/>
                </a:solidFill>
                <a:latin typeface="Arial"/>
                <a:ea typeface="Arial"/>
                <a:cs typeface="Arial"/>
              </a:defRPr>
            </a:pPr>
            <a:r>
              <a:rPr sz="1125" b="0">
                <a:solidFill>
                  <a:srgbClr val="536A70"/>
                </a:solidFill>
                <a:latin typeface="Arial"/>
                <a:ea typeface="Arial"/>
                <a:cs typeface="Arial"/>
              </a:rPr>
              <a:t>Integrated capstone</a:t>
            </a:r>
          </a:p>
        </p:txBody>
      </p:sp>
      <p:sp>
        <p:nvSpPr>
          <p:cNvPr id="6" name="Rectangle 5">
            <a:extLst>
              <a:ext uri="{FF2B5EF4-FFF2-40B4-BE49-F238E27FC236}">
                <a16:creationId xmlns:a16="http://schemas.microsoft.com/office/drawing/2014/main" id="{817D093D-CB58-48CC-B99A-C6BBB0935B47}"/>
              </a:ext>
            </a:extLst>
          </p:cNvPr>
          <p:cNvSpPr>
            <a:spLocks noGrp="1"/>
          </p:cNvSpPr>
          <p:nvPr/>
        </p:nvSpPr>
        <p:spPr>
          <a:xfrm>
            <a:off x="533400" y="2066925"/>
            <a:ext cx="6286500" cy="819150"/>
          </a:xfrm>
          <a:prstGeom prst="rect">
            <a:avLst/>
          </a:prstGeom>
          <a:noFill/>
          <a:ln w="0">
            <a:noFill/>
          </a:ln>
        </p:spPr>
        <p:txBody>
          <a:bodyPr anchor="t">
            <a:noAutofit/>
          </a:bodyPr>
          <a:lstStyle/>
          <a:p>
            <a:pPr>
              <a:defRPr sz="4950" b="1">
                <a:solidFill>
                  <a:srgbClr val="087E83"/>
                </a:solidFill>
                <a:latin typeface="Arial"/>
                <a:ea typeface="Arial"/>
                <a:cs typeface="Arial"/>
              </a:defRPr>
            </a:pPr>
            <a:r>
              <a:rPr sz="4950" b="1">
                <a:solidFill>
                  <a:srgbClr val="087E83"/>
                </a:solidFill>
                <a:latin typeface="Arial"/>
                <a:ea typeface="Arial"/>
                <a:cs typeface="Arial"/>
              </a:rPr>
              <a:t>AfyaPlus AI</a:t>
            </a:r>
          </a:p>
        </p:txBody>
      </p:sp>
      <p:sp>
        <p:nvSpPr>
          <p:cNvPr id="7" name="Rectangle 6">
            <a:extLst>
              <a:ext uri="{FF2B5EF4-FFF2-40B4-BE49-F238E27FC236}">
                <a16:creationId xmlns:a16="http://schemas.microsoft.com/office/drawing/2014/main" id="{DCE56F58-5C8B-4C21-8DE2-798587752956}"/>
              </a:ext>
            </a:extLst>
          </p:cNvPr>
          <p:cNvSpPr>
            <a:spLocks noGrp="1"/>
          </p:cNvSpPr>
          <p:nvPr/>
        </p:nvSpPr>
        <p:spPr>
          <a:xfrm>
            <a:off x="533400" y="3048000"/>
            <a:ext cx="6334125" cy="1085850"/>
          </a:xfrm>
          <a:prstGeom prst="rect">
            <a:avLst/>
          </a:prstGeom>
          <a:noFill/>
          <a:ln w="0">
            <a:noFill/>
          </a:ln>
        </p:spPr>
        <p:txBody>
          <a:bodyPr anchor="t">
            <a:noAutofit/>
          </a:bodyPr>
          <a:lstStyle/>
          <a:p>
            <a:pPr>
              <a:defRPr sz="2550" b="1">
                <a:solidFill>
                  <a:srgbClr val="17313A"/>
                </a:solidFill>
                <a:latin typeface="Arial"/>
                <a:ea typeface="Arial"/>
                <a:cs typeface="Arial"/>
              </a:defRPr>
            </a:pPr>
            <a:r>
              <a:rPr sz="2550" b="1">
                <a:solidFill>
                  <a:srgbClr val="17313A"/>
                </a:solidFill>
                <a:latin typeface="Arial"/>
                <a:ea typeface="Arial"/>
                <a:cs typeface="Arial"/>
              </a:rPr>
              <a:t>Triage support and supply monitoring</a:t>
            </a:r>
          </a:p>
          <a:p>
            <a:pPr>
              <a:defRPr sz="2550" b="1">
                <a:solidFill>
                  <a:srgbClr val="17313A"/>
                </a:solidFill>
                <a:latin typeface="Arial"/>
                <a:ea typeface="Arial"/>
                <a:cs typeface="Arial"/>
              </a:defRPr>
            </a:pPr>
            <a:r>
              <a:rPr sz="2550" b="1">
                <a:solidFill>
                  <a:srgbClr val="17313A"/>
                </a:solidFill>
                <a:latin typeface="Arial"/>
                <a:ea typeface="Arial"/>
                <a:cs typeface="Arial"/>
              </a:rPr>
              <a:t>for clinics with limited resources</a:t>
            </a:r>
          </a:p>
        </p:txBody>
      </p:sp>
      <p:sp>
        <p:nvSpPr>
          <p:cNvPr id="8" name="Rectangle 7">
            <a:extLst>
              <a:ext uri="{FF2B5EF4-FFF2-40B4-BE49-F238E27FC236}">
                <a16:creationId xmlns:a16="http://schemas.microsoft.com/office/drawing/2014/main" id="{B7D8A47E-56D5-4744-81D3-BC0ECEB09846}"/>
              </a:ext>
            </a:extLst>
          </p:cNvPr>
          <p:cNvSpPr>
            <a:spLocks noGrp="1"/>
          </p:cNvSpPr>
          <p:nvPr/>
        </p:nvSpPr>
        <p:spPr>
          <a:xfrm>
            <a:off x="533400" y="4676775"/>
            <a:ext cx="6191250" cy="857250"/>
          </a:xfrm>
          <a:prstGeom prst="rect">
            <a:avLst/>
          </a:prstGeom>
          <a:noFill/>
          <a:ln w="0">
            <a:noFill/>
          </a:ln>
        </p:spPr>
        <p:txBody>
          <a:bodyPr anchor="t">
            <a:noAutofit/>
          </a:bodyPr>
          <a:lstStyle/>
          <a:p>
            <a:pPr>
              <a:defRPr sz="2025" b="0">
                <a:solidFill>
                  <a:srgbClr val="536A70"/>
                </a:solidFill>
                <a:latin typeface="Arial"/>
                <a:ea typeface="Arial"/>
                <a:cs typeface="Arial"/>
              </a:defRPr>
            </a:pPr>
            <a:r>
              <a:rPr sz="2025" b="0">
                <a:solidFill>
                  <a:srgbClr val="536A70"/>
                </a:solidFill>
                <a:latin typeface="Arial"/>
                <a:ea typeface="Arial"/>
                <a:cs typeface="Arial"/>
              </a:rPr>
              <a:t>Design aim: fast assistance within</a:t>
            </a:r>
          </a:p>
          <a:p>
            <a:pPr>
              <a:defRPr sz="2025" b="0">
                <a:solidFill>
                  <a:srgbClr val="536A70"/>
                </a:solidFill>
                <a:latin typeface="Arial"/>
                <a:ea typeface="Arial"/>
                <a:cs typeface="Arial"/>
              </a:defRPr>
            </a:pPr>
            <a:r>
              <a:rPr sz="2025" b="0">
                <a:solidFill>
                  <a:srgbClr val="536A70"/>
                </a:solidFill>
                <a:latin typeface="Arial"/>
                <a:ea typeface="Arial"/>
                <a:cs typeface="Arial"/>
              </a:rPr>
              <a:t>privacy and operating-cost limits.</a:t>
            </a:r>
          </a:p>
        </p:txBody>
      </p:sp>
      <p:sp>
        <p:nvSpPr>
          <p:cNvPr id="9" name="Rectangle 8">
            <a:extLst>
              <a:ext uri="{FF2B5EF4-FFF2-40B4-BE49-F238E27FC236}">
                <a16:creationId xmlns:a16="http://schemas.microsoft.com/office/drawing/2014/main" id="{31B6F0AB-334D-4127-9ED8-F90EE70380A0}"/>
              </a:ext>
            </a:extLst>
          </p:cNvPr>
          <p:cNvSpPr>
            <a:spLocks noGrp="1"/>
          </p:cNvSpPr>
          <p:nvPr/>
        </p:nvSpPr>
        <p:spPr>
          <a:xfrm>
            <a:off x="7467600" y="1962150"/>
            <a:ext cx="19050" cy="3810000"/>
          </a:xfrm>
          <a:prstGeom prst="rect">
            <a:avLst/>
          </a:prstGeom>
          <a:solidFill>
            <a:srgbClr val="CCDCDA"/>
          </a:solidFill>
          <a:ln w="0">
            <a:noFill/>
          </a:ln>
        </p:spPr>
        <p:txBody>
          <a:bodyPr/>
          <a:lstStyle/>
          <a:p>
            <a:endParaRPr lang="en-US"/>
          </a:p>
        </p:txBody>
      </p:sp>
      <p:sp>
        <p:nvSpPr>
          <p:cNvPr id="10" name="Rectangle 9">
            <a:extLst>
              <a:ext uri="{FF2B5EF4-FFF2-40B4-BE49-F238E27FC236}">
                <a16:creationId xmlns:a16="http://schemas.microsoft.com/office/drawing/2014/main" id="{C957005E-5F54-46B3-89BD-51A1AD7260A9}"/>
              </a:ext>
            </a:extLst>
          </p:cNvPr>
          <p:cNvSpPr>
            <a:spLocks noGrp="1"/>
          </p:cNvSpPr>
          <p:nvPr/>
        </p:nvSpPr>
        <p:spPr>
          <a:xfrm>
            <a:off x="7905750" y="2057400"/>
            <a:ext cx="3429000" cy="285750"/>
          </a:xfrm>
          <a:prstGeom prst="rect">
            <a:avLst/>
          </a:prstGeom>
          <a:noFill/>
          <a:ln w="0">
            <a:noFill/>
          </a:ln>
        </p:spPr>
        <p:txBody>
          <a:bodyPr anchor="t">
            <a:noAutofit/>
          </a:bodyPr>
          <a:lstStyle/>
          <a:p>
            <a:pPr>
              <a:defRPr sz="1350" b="1">
                <a:solidFill>
                  <a:srgbClr val="087E83"/>
                </a:solidFill>
                <a:latin typeface="Arial"/>
                <a:ea typeface="Arial"/>
                <a:cs typeface="Arial"/>
              </a:defRPr>
            </a:pPr>
            <a:r>
              <a:rPr sz="1350" b="1">
                <a:solidFill>
                  <a:srgbClr val="087E83"/>
                </a:solidFill>
                <a:latin typeface="Arial"/>
                <a:ea typeface="Arial"/>
                <a:cs typeface="Arial"/>
              </a:rPr>
              <a:t>PRIMARY USER</a:t>
            </a:r>
          </a:p>
        </p:txBody>
      </p:sp>
      <p:sp>
        <p:nvSpPr>
          <p:cNvPr id="11" name="Rectangle 10">
            <a:extLst>
              <a:ext uri="{FF2B5EF4-FFF2-40B4-BE49-F238E27FC236}">
                <a16:creationId xmlns:a16="http://schemas.microsoft.com/office/drawing/2014/main" id="{F9BF52B1-502A-406F-87D0-DB0979A8BE31}"/>
              </a:ext>
            </a:extLst>
          </p:cNvPr>
          <p:cNvSpPr>
            <a:spLocks noGrp="1"/>
          </p:cNvSpPr>
          <p:nvPr/>
        </p:nvSpPr>
        <p:spPr>
          <a:xfrm>
            <a:off x="7905750" y="2495550"/>
            <a:ext cx="3476625" cy="619125"/>
          </a:xfrm>
          <a:prstGeom prst="rect">
            <a:avLst/>
          </a:prstGeom>
          <a:noFill/>
          <a:ln w="0">
            <a:noFill/>
          </a:ln>
        </p:spPr>
        <p:txBody>
          <a:bodyPr anchor="t">
            <a:noAutofit/>
          </a:bodyPr>
          <a:lstStyle/>
          <a:p>
            <a:pPr>
              <a:defRPr sz="2550" b="1">
                <a:solidFill>
                  <a:srgbClr val="17313A"/>
                </a:solidFill>
                <a:latin typeface="Arial"/>
                <a:ea typeface="Arial"/>
                <a:cs typeface="Arial"/>
              </a:defRPr>
            </a:pPr>
            <a:r>
              <a:rPr sz="2550" b="1">
                <a:solidFill>
                  <a:srgbClr val="17313A"/>
                </a:solidFill>
                <a:latin typeface="Arial"/>
                <a:ea typeface="Arial"/>
                <a:cs typeface="Arial"/>
              </a:rPr>
              <a:t>Clinical officers</a:t>
            </a:r>
          </a:p>
        </p:txBody>
      </p:sp>
      <p:sp>
        <p:nvSpPr>
          <p:cNvPr id="12" name="Rectangle 11">
            <a:extLst>
              <a:ext uri="{FF2B5EF4-FFF2-40B4-BE49-F238E27FC236}">
                <a16:creationId xmlns:a16="http://schemas.microsoft.com/office/drawing/2014/main" id="{33F24F49-7D20-4088-94C8-D31CC6D6CFB3}"/>
              </a:ext>
            </a:extLst>
          </p:cNvPr>
          <p:cNvSpPr>
            <a:spLocks noGrp="1"/>
          </p:cNvSpPr>
          <p:nvPr/>
        </p:nvSpPr>
        <p:spPr>
          <a:xfrm>
            <a:off x="7905750" y="3371850"/>
            <a:ext cx="3476625" cy="381000"/>
          </a:xfrm>
          <a:prstGeom prst="rect">
            <a:avLst/>
          </a:prstGeom>
          <a:noFill/>
          <a:ln w="0">
            <a:noFill/>
          </a:ln>
        </p:spPr>
        <p:txBody>
          <a:bodyPr anchor="t">
            <a:noAutofit/>
          </a:bodyPr>
          <a:lstStyle/>
          <a:p>
            <a:pPr>
              <a:defRPr sz="1875" b="1">
                <a:solidFill>
                  <a:srgbClr val="17313A"/>
                </a:solidFill>
                <a:latin typeface="Arial"/>
                <a:ea typeface="Arial"/>
                <a:cs typeface="Arial"/>
              </a:defRPr>
            </a:pPr>
            <a:r>
              <a:rPr sz="1875" b="1">
                <a:solidFill>
                  <a:srgbClr val="17313A"/>
                </a:solidFill>
                <a:latin typeface="Arial"/>
                <a:ea typeface="Arial"/>
                <a:cs typeface="Arial"/>
              </a:rPr>
              <a:t>At the point of care</a:t>
            </a:r>
          </a:p>
        </p:txBody>
      </p:sp>
      <p:sp>
        <p:nvSpPr>
          <p:cNvPr id="13" name="Rectangle 12">
            <a:extLst>
              <a:ext uri="{FF2B5EF4-FFF2-40B4-BE49-F238E27FC236}">
                <a16:creationId xmlns:a16="http://schemas.microsoft.com/office/drawing/2014/main" id="{7829574D-25CD-4E40-973C-BDD16C14B267}"/>
              </a:ext>
            </a:extLst>
          </p:cNvPr>
          <p:cNvSpPr>
            <a:spLocks noGrp="1"/>
          </p:cNvSpPr>
          <p:nvPr/>
        </p:nvSpPr>
        <p:spPr>
          <a:xfrm>
            <a:off x="7905750" y="3848100"/>
            <a:ext cx="3476625" cy="857250"/>
          </a:xfrm>
          <a:prstGeom prst="rect">
            <a:avLst/>
          </a:prstGeom>
          <a:noFill/>
          <a:ln w="0">
            <a:noFill/>
          </a:ln>
        </p:spPr>
        <p:txBody>
          <a:bodyPr anchor="t">
            <a:noAutofit/>
          </a:bodyPr>
          <a:lstStyle/>
          <a:p>
            <a:pPr>
              <a:defRPr sz="1875" b="0">
                <a:solidFill>
                  <a:srgbClr val="536A70"/>
                </a:solidFill>
                <a:latin typeface="Arial"/>
                <a:ea typeface="Arial"/>
                <a:cs typeface="Arial"/>
              </a:defRPr>
            </a:pPr>
            <a:r>
              <a:rPr sz="1875" b="0">
                <a:solidFill>
                  <a:srgbClr val="536A70"/>
                </a:solidFill>
                <a:latin typeface="Arial"/>
                <a:ea typeface="Arial"/>
                <a:cs typeface="Arial"/>
              </a:rPr>
              <a:t>Quick triage guidance alongside</a:t>
            </a:r>
          </a:p>
          <a:p>
            <a:pPr>
              <a:defRPr sz="1875" b="0">
                <a:solidFill>
                  <a:srgbClr val="536A70"/>
                </a:solidFill>
                <a:latin typeface="Arial"/>
                <a:ea typeface="Arial"/>
                <a:cs typeface="Arial"/>
              </a:defRPr>
            </a:pPr>
            <a:r>
              <a:rPr sz="1875" b="0">
                <a:solidFill>
                  <a:srgbClr val="536A70"/>
                </a:solidFill>
                <a:latin typeface="Arial"/>
                <a:ea typeface="Arial"/>
                <a:cs typeface="Arial"/>
              </a:rPr>
              <a:t>supply availability.</a:t>
            </a:r>
          </a:p>
        </p:txBody>
      </p:sp>
      <p:sp>
        <p:nvSpPr>
          <p:cNvPr id="14" name="Rectangle 13">
            <a:extLst>
              <a:ext uri="{FF2B5EF4-FFF2-40B4-BE49-F238E27FC236}">
                <a16:creationId xmlns:a16="http://schemas.microsoft.com/office/drawing/2014/main" id="{B13F7302-E69F-404D-9C11-78F727FD2FC9}"/>
              </a:ext>
            </a:extLst>
          </p:cNvPr>
          <p:cNvSpPr>
            <a:spLocks noGrp="1"/>
          </p:cNvSpPr>
          <p:nvPr/>
        </p:nvSpPr>
        <p:spPr>
          <a:xfrm>
            <a:off x="7905750" y="5219700"/>
            <a:ext cx="3476625" cy="590550"/>
          </a:xfrm>
          <a:prstGeom prst="rect">
            <a:avLst/>
          </a:prstGeom>
          <a:noFill/>
          <a:ln w="0">
            <a:noFill/>
          </a:ln>
        </p:spPr>
        <p:txBody>
          <a:bodyPr anchor="t">
            <a:noAutofit/>
          </a:bodyPr>
          <a:lstStyle/>
          <a:p>
            <a:pPr>
              <a:defRPr sz="1725" b="0">
                <a:solidFill>
                  <a:srgbClr val="087E83"/>
                </a:solidFill>
                <a:latin typeface="Arial"/>
                <a:ea typeface="Arial"/>
                <a:cs typeface="Arial"/>
              </a:defRPr>
            </a:pPr>
            <a:r>
              <a:rPr sz="1725" b="0">
                <a:solidFill>
                  <a:srgbClr val="087E83"/>
                </a:solidFill>
                <a:latin typeface="Arial"/>
                <a:ea typeface="Arial"/>
                <a:cs typeface="Arial"/>
              </a:rPr>
              <a:t>Scope: decision support under</a:t>
            </a:r>
          </a:p>
          <a:p>
            <a:pPr>
              <a:defRPr sz="1725" b="0">
                <a:solidFill>
                  <a:srgbClr val="087E83"/>
                </a:solidFill>
                <a:latin typeface="Arial"/>
                <a:ea typeface="Arial"/>
                <a:cs typeface="Arial"/>
              </a:defRPr>
            </a:pPr>
            <a:r>
              <a:rPr sz="1725" b="0">
                <a:solidFill>
                  <a:srgbClr val="087E83"/>
                </a:solidFill>
                <a:latin typeface="Arial"/>
                <a:ea typeface="Arial"/>
                <a:cs typeface="Arial"/>
              </a:rPr>
              <a:t>clinical oversight.</a:t>
            </a:r>
          </a:p>
        </p:txBody>
      </p:sp>
    </p:spTree>
    <p:extLst>
      <p:ext uri="{BB962C8B-B14F-4D97-AF65-F5344CB8AC3E}">
        <p14:creationId xmlns:p14="http://schemas.microsoft.com/office/powerpoint/2010/main" val="402445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AD7E29A-443B-4C21-A6AB-AC879528E007}"/>
              </a:ext>
            </a:extLst>
          </p:cNvPr>
          <p:cNvSpPr>
            <a:spLocks noGrp="1"/>
          </p:cNvSpPr>
          <p:nvPr/>
        </p:nvSpPr>
        <p:spPr>
          <a:xfrm>
            <a:off x="533400" y="247650"/>
            <a:ext cx="3810000" cy="228600"/>
          </a:xfrm>
          <a:prstGeom prst="rect">
            <a:avLst/>
          </a:prstGeom>
          <a:noFill/>
          <a:ln w="0">
            <a:noFill/>
          </a:ln>
        </p:spPr>
        <p:txBody>
          <a:bodyPr anchor="t">
            <a:noAutofit/>
          </a:bodyPr>
          <a:lstStyle/>
          <a:p>
            <a:pPr>
              <a:defRPr sz="1200" b="1">
                <a:solidFill>
                  <a:srgbClr val="087E83"/>
                </a:solidFill>
                <a:latin typeface="Arial"/>
                <a:ea typeface="Arial"/>
                <a:cs typeface="Arial"/>
              </a:defRPr>
            </a:pPr>
            <a:r>
              <a:rPr sz="1200" b="1">
                <a:solidFill>
                  <a:srgbClr val="087E83"/>
                </a:solidFill>
                <a:latin typeface="Arial"/>
                <a:ea typeface="Arial"/>
                <a:cs typeface="Arial"/>
              </a:rPr>
              <a:t>AFYAPLUS AI</a:t>
            </a:r>
          </a:p>
        </p:txBody>
      </p:sp>
      <p:sp>
        <p:nvSpPr>
          <p:cNvPr id="2" name="Rectangle 1">
            <a:extLst>
              <a:ext uri="{FF2B5EF4-FFF2-40B4-BE49-F238E27FC236}">
                <a16:creationId xmlns:a16="http://schemas.microsoft.com/office/drawing/2014/main" id="{7E6A44A3-ED9A-4DC6-B086-7AF71B1852ED}"/>
              </a:ext>
            </a:extLst>
          </p:cNvPr>
          <p:cNvSpPr>
            <a:spLocks noGrp="1"/>
          </p:cNvSpPr>
          <p:nvPr/>
        </p:nvSpPr>
        <p:spPr>
          <a:xfrm>
            <a:off x="11068050" y="247650"/>
            <a:ext cx="590550" cy="228600"/>
          </a:xfrm>
          <a:prstGeom prst="rect">
            <a:avLst/>
          </a:prstGeom>
          <a:noFill/>
          <a:ln w="0">
            <a:noFill/>
          </a:ln>
        </p:spPr>
        <p:txBody>
          <a:bodyPr anchor="t">
            <a:noAutofit/>
          </a:bodyPr>
          <a:lstStyle/>
          <a:p>
            <a:pPr>
              <a:defRPr sz="1200" b="1">
                <a:solidFill>
                  <a:srgbClr val="087E83"/>
                </a:solidFill>
                <a:latin typeface="Arial"/>
                <a:ea typeface="Arial"/>
                <a:cs typeface="Arial"/>
              </a:defRPr>
            </a:pPr>
            <a:r>
              <a:rPr sz="1200" b="1">
                <a:solidFill>
                  <a:srgbClr val="087E83"/>
                </a:solidFill>
                <a:latin typeface="Arial"/>
                <a:ea typeface="Arial"/>
                <a:cs typeface="Arial"/>
              </a:rPr>
              <a:t>02</a:t>
            </a:r>
          </a:p>
        </p:txBody>
      </p:sp>
      <p:sp>
        <p:nvSpPr>
          <p:cNvPr id="3" name="Rectangle 2">
            <a:extLst>
              <a:ext uri="{FF2B5EF4-FFF2-40B4-BE49-F238E27FC236}">
                <a16:creationId xmlns:a16="http://schemas.microsoft.com/office/drawing/2014/main" id="{0942D6C3-C428-4B6D-85DC-380E5520E6B6}"/>
              </a:ext>
            </a:extLst>
          </p:cNvPr>
          <p:cNvSpPr>
            <a:spLocks noGrp="1"/>
          </p:cNvSpPr>
          <p:nvPr/>
        </p:nvSpPr>
        <p:spPr>
          <a:xfrm>
            <a:off x="533400" y="714375"/>
            <a:ext cx="11125200" cy="666750"/>
          </a:xfrm>
          <a:prstGeom prst="rect">
            <a:avLst/>
          </a:prstGeom>
          <a:noFill/>
          <a:ln w="0">
            <a:noFill/>
          </a:ln>
        </p:spPr>
        <p:txBody>
          <a:bodyPr anchor="t">
            <a:noAutofit/>
          </a:bodyPr>
          <a:lstStyle/>
          <a:p>
            <a:pPr>
              <a:defRPr sz="3300" b="1">
                <a:solidFill>
                  <a:srgbClr val="17313A"/>
                </a:solidFill>
                <a:latin typeface="Arial"/>
                <a:ea typeface="Arial"/>
                <a:cs typeface="Arial"/>
              </a:defRPr>
            </a:pPr>
            <a:r>
              <a:rPr sz="3300" b="1">
                <a:solidFill>
                  <a:srgbClr val="17313A"/>
                </a:solidFill>
                <a:latin typeface="Arial"/>
                <a:ea typeface="Arial"/>
                <a:cs typeface="Arial"/>
              </a:rPr>
              <a:t>Chosen engineering path</a:t>
            </a:r>
          </a:p>
        </p:txBody>
      </p:sp>
      <p:sp>
        <p:nvSpPr>
          <p:cNvPr id="4" name="Rectangle 3">
            <a:extLst>
              <a:ext uri="{FF2B5EF4-FFF2-40B4-BE49-F238E27FC236}">
                <a16:creationId xmlns:a16="http://schemas.microsoft.com/office/drawing/2014/main" id="{15158D80-53B6-46BC-BF31-6B0C6CD24731}"/>
              </a:ext>
            </a:extLst>
          </p:cNvPr>
          <p:cNvSpPr>
            <a:spLocks noGrp="1"/>
          </p:cNvSpPr>
          <p:nvPr/>
        </p:nvSpPr>
        <p:spPr>
          <a:xfrm>
            <a:off x="533400" y="1381125"/>
            <a:ext cx="11125200" cy="514350"/>
          </a:xfrm>
          <a:prstGeom prst="rect">
            <a:avLst/>
          </a:prstGeom>
          <a:noFill/>
          <a:ln w="0">
            <a:noFill/>
          </a:ln>
        </p:spPr>
        <p:txBody>
          <a:bodyPr anchor="t">
            <a:noAutofit/>
          </a:bodyPr>
          <a:lstStyle/>
          <a:p>
            <a:pPr>
              <a:defRPr sz="1725" b="0">
                <a:solidFill>
                  <a:srgbClr val="536A70"/>
                </a:solidFill>
                <a:latin typeface="Arial"/>
                <a:ea typeface="Arial"/>
                <a:cs typeface="Arial"/>
              </a:defRPr>
            </a:pPr>
            <a:r>
              <a:rPr sz="1725" b="0">
                <a:solidFill>
                  <a:srgbClr val="536A70"/>
                </a:solidFill>
                <a:latin typeface="Arial"/>
                <a:ea typeface="Arial"/>
                <a:cs typeface="Arial"/>
              </a:rPr>
              <a:t>Official AfyaPlus Module 4 Capstone</a:t>
            </a:r>
          </a:p>
        </p:txBody>
      </p:sp>
      <p:sp>
        <p:nvSpPr>
          <p:cNvPr id="5" name="Rectangle 4">
            <a:extLst>
              <a:ext uri="{FF2B5EF4-FFF2-40B4-BE49-F238E27FC236}">
                <a16:creationId xmlns:a16="http://schemas.microsoft.com/office/drawing/2014/main" id="{64FB663A-682D-4D4B-AB32-05A293E5E74A}"/>
              </a:ext>
            </a:extLst>
          </p:cNvPr>
          <p:cNvSpPr>
            <a:spLocks noGrp="1"/>
          </p:cNvSpPr>
          <p:nvPr/>
        </p:nvSpPr>
        <p:spPr>
          <a:xfrm>
            <a:off x="533400" y="6334125"/>
            <a:ext cx="11125200" cy="19050"/>
          </a:xfrm>
          <a:prstGeom prst="rect">
            <a:avLst/>
          </a:prstGeom>
          <a:solidFill>
            <a:srgbClr val="CCDCDA"/>
          </a:solidFill>
          <a:ln w="0">
            <a:noFill/>
          </a:ln>
        </p:spPr>
        <p:txBody>
          <a:bodyPr/>
          <a:lstStyle/>
          <a:p>
            <a:endParaRPr lang="en-US"/>
          </a:p>
        </p:txBody>
      </p:sp>
      <p:sp>
        <p:nvSpPr>
          <p:cNvPr id="6" name="Rectangle 5">
            <a:extLst>
              <a:ext uri="{FF2B5EF4-FFF2-40B4-BE49-F238E27FC236}">
                <a16:creationId xmlns:a16="http://schemas.microsoft.com/office/drawing/2014/main" id="{C7C678FF-376E-420E-835B-24C7A212AB9E}"/>
              </a:ext>
            </a:extLst>
          </p:cNvPr>
          <p:cNvSpPr>
            <a:spLocks noGrp="1"/>
          </p:cNvSpPr>
          <p:nvPr/>
        </p:nvSpPr>
        <p:spPr>
          <a:xfrm>
            <a:off x="533400" y="6457950"/>
            <a:ext cx="8572500" cy="200025"/>
          </a:xfrm>
          <a:prstGeom prst="rect">
            <a:avLst/>
          </a:prstGeom>
          <a:noFill/>
          <a:ln w="0">
            <a:noFill/>
          </a:ln>
        </p:spPr>
        <p:txBody>
          <a:bodyPr anchor="t">
            <a:noAutofit/>
          </a:bodyPr>
          <a:lstStyle/>
          <a:p>
            <a:pPr>
              <a:defRPr sz="1125" b="0">
                <a:solidFill>
                  <a:srgbClr val="536A70"/>
                </a:solidFill>
                <a:latin typeface="Arial"/>
                <a:ea typeface="Arial"/>
                <a:cs typeface="Arial"/>
              </a:defRPr>
            </a:pPr>
            <a:r>
              <a:rPr sz="1125" b="0">
                <a:solidFill>
                  <a:srgbClr val="536A70"/>
                </a:solidFill>
                <a:latin typeface="Arial"/>
                <a:ea typeface="Arial"/>
                <a:cs typeface="Arial"/>
              </a:rPr>
              <a:t>Integrated capstone</a:t>
            </a:r>
          </a:p>
        </p:txBody>
      </p:sp>
      <p:sp>
        <p:nvSpPr>
          <p:cNvPr id="7" name="Rectangle 6">
            <a:extLst>
              <a:ext uri="{FF2B5EF4-FFF2-40B4-BE49-F238E27FC236}">
                <a16:creationId xmlns:a16="http://schemas.microsoft.com/office/drawing/2014/main" id="{F76BC09E-6DD4-4146-A008-892F0ED1923F}"/>
              </a:ext>
            </a:extLst>
          </p:cNvPr>
          <p:cNvSpPr>
            <a:spLocks noGrp="1"/>
          </p:cNvSpPr>
          <p:nvPr/>
        </p:nvSpPr>
        <p:spPr>
          <a:xfrm>
            <a:off x="533400" y="2085975"/>
            <a:ext cx="5905500" cy="1238250"/>
          </a:xfrm>
          <a:prstGeom prst="rect">
            <a:avLst/>
          </a:prstGeom>
          <a:noFill/>
          <a:ln w="0">
            <a:noFill/>
          </a:ln>
        </p:spPr>
        <p:txBody>
          <a:bodyPr anchor="t">
            <a:noAutofit/>
          </a:bodyPr>
          <a:lstStyle/>
          <a:p>
            <a:pPr>
              <a:defRPr sz="3600" b="1">
                <a:solidFill>
                  <a:srgbClr val="087E83"/>
                </a:solidFill>
                <a:latin typeface="Arial"/>
                <a:ea typeface="Arial"/>
                <a:cs typeface="Arial"/>
              </a:defRPr>
            </a:pPr>
            <a:r>
              <a:rPr sz="3600" b="1">
                <a:solidFill>
                  <a:srgbClr val="087E83"/>
                </a:solidFill>
                <a:latin typeface="Arial"/>
                <a:ea typeface="Arial"/>
                <a:cs typeface="Arial"/>
              </a:rPr>
              <a:t>One integrated</a:t>
            </a:r>
          </a:p>
          <a:p>
            <a:pPr>
              <a:defRPr sz="3600" b="1">
                <a:solidFill>
                  <a:srgbClr val="087E83"/>
                </a:solidFill>
                <a:latin typeface="Arial"/>
                <a:ea typeface="Arial"/>
                <a:cs typeface="Arial"/>
              </a:defRPr>
            </a:pPr>
            <a:r>
              <a:rPr sz="3600" b="1">
                <a:solidFill>
                  <a:srgbClr val="087E83"/>
                </a:solidFill>
                <a:latin typeface="Arial"/>
                <a:ea typeface="Arial"/>
                <a:cs typeface="Arial"/>
              </a:rPr>
              <a:t>capstone path</a:t>
            </a:r>
          </a:p>
        </p:txBody>
      </p:sp>
      <p:sp>
        <p:nvSpPr>
          <p:cNvPr id="8" name="Rectangle 7">
            <a:extLst>
              <a:ext uri="{FF2B5EF4-FFF2-40B4-BE49-F238E27FC236}">
                <a16:creationId xmlns:a16="http://schemas.microsoft.com/office/drawing/2014/main" id="{ABDE077F-F53B-47AF-B30D-C40C475871D4}"/>
              </a:ext>
            </a:extLst>
          </p:cNvPr>
          <p:cNvSpPr>
            <a:spLocks noGrp="1"/>
          </p:cNvSpPr>
          <p:nvPr/>
        </p:nvSpPr>
        <p:spPr>
          <a:xfrm>
            <a:off x="6629400" y="2143125"/>
            <a:ext cx="4762500" cy="990600"/>
          </a:xfrm>
          <a:prstGeom prst="rect">
            <a:avLst/>
          </a:prstGeom>
          <a:noFill/>
          <a:ln w="0">
            <a:noFill/>
          </a:ln>
        </p:spPr>
        <p:txBody>
          <a:bodyPr anchor="t">
            <a:noAutofit/>
          </a:bodyPr>
          <a:lstStyle/>
          <a:p>
            <a:pPr>
              <a:defRPr sz="2100" b="0">
                <a:solidFill>
                  <a:srgbClr val="17313A"/>
                </a:solidFill>
                <a:latin typeface="Arial"/>
                <a:ea typeface="Arial"/>
                <a:cs typeface="Arial"/>
              </a:defRPr>
            </a:pPr>
            <a:r>
              <a:rPr sz="2100" b="0">
                <a:solidFill>
                  <a:srgbClr val="17313A"/>
                </a:solidFill>
                <a:latin typeface="Arial"/>
                <a:ea typeface="Arial"/>
                <a:cs typeface="Arial"/>
              </a:rPr>
              <a:t>FastAPI triage boundary with logistics</a:t>
            </a:r>
          </a:p>
          <a:p>
            <a:pPr>
              <a:defRPr sz="2100" b="0">
                <a:solidFill>
                  <a:srgbClr val="17313A"/>
                </a:solidFill>
                <a:latin typeface="Arial"/>
                <a:ea typeface="Arial"/>
                <a:cs typeface="Arial"/>
              </a:defRPr>
            </a:pPr>
            <a:r>
              <a:rPr sz="2100" b="0">
                <a:solidFill>
                  <a:srgbClr val="17313A"/>
                </a:solidFill>
                <a:latin typeface="Arial"/>
                <a:ea typeface="Arial"/>
                <a:cs typeface="Arial"/>
              </a:rPr>
              <a:t>Model Context Protocol (MCP) tooling.</a:t>
            </a:r>
          </a:p>
        </p:txBody>
      </p:sp>
      <p:sp>
        <p:nvSpPr>
          <p:cNvPr id="9" name="Rectangle 8">
            <a:extLst>
              <a:ext uri="{FF2B5EF4-FFF2-40B4-BE49-F238E27FC236}">
                <a16:creationId xmlns:a16="http://schemas.microsoft.com/office/drawing/2014/main" id="{A8E60A0B-8FEB-4C6D-8CC5-7FD259151241}"/>
              </a:ext>
            </a:extLst>
          </p:cNvPr>
          <p:cNvSpPr>
            <a:spLocks noGrp="1"/>
          </p:cNvSpPr>
          <p:nvPr/>
        </p:nvSpPr>
        <p:spPr>
          <a:xfrm>
            <a:off x="533400" y="3562350"/>
            <a:ext cx="10953750" cy="523875"/>
          </a:xfrm>
          <a:prstGeom prst="rect">
            <a:avLst/>
          </a:prstGeom>
          <a:noFill/>
          <a:ln w="0">
            <a:noFill/>
          </a:ln>
        </p:spPr>
        <p:txBody>
          <a:bodyPr anchor="t">
            <a:noAutofit/>
          </a:bodyPr>
          <a:lstStyle/>
          <a:p>
            <a:pPr>
              <a:defRPr sz="1875" b="0">
                <a:solidFill>
                  <a:srgbClr val="536A70"/>
                </a:solidFill>
                <a:latin typeface="Arial"/>
                <a:ea typeface="Arial"/>
                <a:cs typeface="Arial"/>
              </a:defRPr>
            </a:pPr>
            <a:r>
              <a:rPr sz="1875" b="0">
                <a:solidFill>
                  <a:srgbClr val="536A70"/>
                </a:solidFill>
                <a:latin typeface="Arial"/>
                <a:ea typeface="Arial"/>
                <a:cs typeface="Arial"/>
              </a:rPr>
              <a:t>The README declares the official path and reuses Weeks 1–10 frameworks.</a:t>
            </a:r>
          </a:p>
        </p:txBody>
      </p:sp>
      <p:sp>
        <p:nvSpPr>
          <p:cNvPr id="10" name="Rectangle 9">
            <a:extLst>
              <a:ext uri="{FF2B5EF4-FFF2-40B4-BE49-F238E27FC236}">
                <a16:creationId xmlns:a16="http://schemas.microsoft.com/office/drawing/2014/main" id="{04389D54-F042-4856-9439-55578B6B8076}"/>
              </a:ext>
            </a:extLst>
          </p:cNvPr>
          <p:cNvSpPr>
            <a:spLocks noGrp="1"/>
          </p:cNvSpPr>
          <p:nvPr/>
        </p:nvSpPr>
        <p:spPr>
          <a:xfrm>
            <a:off x="533400" y="4371975"/>
            <a:ext cx="11125200" cy="19050"/>
          </a:xfrm>
          <a:prstGeom prst="rect">
            <a:avLst/>
          </a:prstGeom>
          <a:solidFill>
            <a:srgbClr val="CCDCDA"/>
          </a:solidFill>
          <a:ln w="0">
            <a:noFill/>
          </a:ln>
        </p:spPr>
        <p:txBody>
          <a:bodyPr/>
          <a:lstStyle/>
          <a:p>
            <a:endParaRPr lang="en-US"/>
          </a:p>
        </p:txBody>
      </p:sp>
      <p:sp>
        <p:nvSpPr>
          <p:cNvPr id="11" name="Rectangle 10">
            <a:extLst>
              <a:ext uri="{FF2B5EF4-FFF2-40B4-BE49-F238E27FC236}">
                <a16:creationId xmlns:a16="http://schemas.microsoft.com/office/drawing/2014/main" id="{132BA70B-2F8A-45A1-B8D5-AF9F04699558}"/>
              </a:ext>
            </a:extLst>
          </p:cNvPr>
          <p:cNvSpPr>
            <a:spLocks noGrp="1"/>
          </p:cNvSpPr>
          <p:nvPr/>
        </p:nvSpPr>
        <p:spPr>
          <a:xfrm>
            <a:off x="533400" y="4638675"/>
            <a:ext cx="2647950" cy="342900"/>
          </a:xfrm>
          <a:prstGeom prst="rect">
            <a:avLst/>
          </a:prstGeom>
          <a:noFill/>
          <a:ln w="0">
            <a:noFill/>
          </a:ln>
        </p:spPr>
        <p:txBody>
          <a:bodyPr anchor="t">
            <a:noAutofit/>
          </a:bodyPr>
          <a:lstStyle/>
          <a:p>
            <a:pPr>
              <a:defRPr sz="1800" b="1">
                <a:solidFill>
                  <a:srgbClr val="087E83"/>
                </a:solidFill>
                <a:latin typeface="Arial"/>
                <a:ea typeface="Arial"/>
                <a:cs typeface="Arial"/>
              </a:defRPr>
            </a:pPr>
            <a:r>
              <a:rPr sz="1800" b="1">
                <a:solidFill>
                  <a:srgbClr val="087E83"/>
                </a:solidFill>
                <a:latin typeface="Arial"/>
                <a:ea typeface="Arial"/>
                <a:cs typeface="Arial"/>
              </a:rPr>
              <a:t>Weeks 1–5</a:t>
            </a:r>
          </a:p>
        </p:txBody>
      </p:sp>
      <p:sp>
        <p:nvSpPr>
          <p:cNvPr id="12" name="Rectangle 11">
            <a:extLst>
              <a:ext uri="{FF2B5EF4-FFF2-40B4-BE49-F238E27FC236}">
                <a16:creationId xmlns:a16="http://schemas.microsoft.com/office/drawing/2014/main" id="{64305500-1623-4719-9C77-17AC3AA86B69}"/>
              </a:ext>
            </a:extLst>
          </p:cNvPr>
          <p:cNvSpPr>
            <a:spLocks noGrp="1"/>
          </p:cNvSpPr>
          <p:nvPr/>
        </p:nvSpPr>
        <p:spPr>
          <a:xfrm>
            <a:off x="533400" y="5105400"/>
            <a:ext cx="2647950" cy="781050"/>
          </a:xfrm>
          <a:prstGeom prst="rect">
            <a:avLst/>
          </a:prstGeom>
          <a:noFill/>
          <a:ln w="0">
            <a:noFill/>
          </a:ln>
        </p:spPr>
        <p:txBody>
          <a:bodyPr anchor="t">
            <a:noAutofit/>
          </a:bodyPr>
          <a:lstStyle/>
          <a:p>
            <a:pPr>
              <a:defRPr sz="1875" b="0">
                <a:solidFill>
                  <a:srgbClr val="17313A"/>
                </a:solidFill>
                <a:latin typeface="Arial"/>
                <a:ea typeface="Arial"/>
                <a:cs typeface="Arial"/>
              </a:defRPr>
            </a:pPr>
            <a:r>
              <a:rPr sz="1875" b="0">
                <a:solidFill>
                  <a:srgbClr val="17313A"/>
                </a:solidFill>
                <a:latin typeface="Arial"/>
                <a:ea typeface="Arial"/>
                <a:cs typeface="Arial"/>
              </a:rPr>
              <a:t>Data containment</a:t>
            </a:r>
          </a:p>
          <a:p>
            <a:pPr>
              <a:defRPr sz="1875" b="0">
                <a:solidFill>
                  <a:srgbClr val="17313A"/>
                </a:solidFill>
                <a:latin typeface="Arial"/>
                <a:ea typeface="Arial"/>
                <a:cs typeface="Arial"/>
              </a:defRPr>
            </a:pPr>
            <a:r>
              <a:rPr sz="1875" b="0">
                <a:solidFill>
                  <a:srgbClr val="17313A"/>
                </a:solidFill>
                <a:latin typeface="Arial"/>
                <a:ea typeface="Arial"/>
                <a:cs typeface="Arial"/>
              </a:rPr>
              <a:t>and routing stubs</a:t>
            </a:r>
          </a:p>
        </p:txBody>
      </p:sp>
      <p:sp>
        <p:nvSpPr>
          <p:cNvPr id="13" name="Rectangle 12">
            <a:extLst>
              <a:ext uri="{FF2B5EF4-FFF2-40B4-BE49-F238E27FC236}">
                <a16:creationId xmlns:a16="http://schemas.microsoft.com/office/drawing/2014/main" id="{C41E87AD-EE44-44CE-BFC9-2ED3B13965D9}"/>
              </a:ext>
            </a:extLst>
          </p:cNvPr>
          <p:cNvSpPr>
            <a:spLocks noGrp="1"/>
          </p:cNvSpPr>
          <p:nvPr/>
        </p:nvSpPr>
        <p:spPr>
          <a:xfrm>
            <a:off x="3371850" y="4638675"/>
            <a:ext cx="2647950" cy="342900"/>
          </a:xfrm>
          <a:prstGeom prst="rect">
            <a:avLst/>
          </a:prstGeom>
          <a:noFill/>
          <a:ln w="0">
            <a:noFill/>
          </a:ln>
        </p:spPr>
        <p:txBody>
          <a:bodyPr anchor="t">
            <a:noAutofit/>
          </a:bodyPr>
          <a:lstStyle/>
          <a:p>
            <a:pPr>
              <a:defRPr sz="1800" b="1">
                <a:solidFill>
                  <a:srgbClr val="087E83"/>
                </a:solidFill>
                <a:latin typeface="Arial"/>
                <a:ea typeface="Arial"/>
                <a:cs typeface="Arial"/>
              </a:defRPr>
            </a:pPr>
            <a:r>
              <a:rPr sz="1800" b="1">
                <a:solidFill>
                  <a:srgbClr val="087E83"/>
                </a:solidFill>
                <a:latin typeface="Arial"/>
                <a:ea typeface="Arial"/>
                <a:cs typeface="Arial"/>
              </a:rPr>
              <a:t>Weeks 6–7</a:t>
            </a:r>
          </a:p>
        </p:txBody>
      </p:sp>
      <p:sp>
        <p:nvSpPr>
          <p:cNvPr id="14" name="Rectangle 13">
            <a:extLst>
              <a:ext uri="{FF2B5EF4-FFF2-40B4-BE49-F238E27FC236}">
                <a16:creationId xmlns:a16="http://schemas.microsoft.com/office/drawing/2014/main" id="{505D6BBC-45CD-467F-A220-AD9EE70A8F3D}"/>
              </a:ext>
            </a:extLst>
          </p:cNvPr>
          <p:cNvSpPr>
            <a:spLocks noGrp="1"/>
          </p:cNvSpPr>
          <p:nvPr/>
        </p:nvSpPr>
        <p:spPr>
          <a:xfrm>
            <a:off x="3371850" y="5105400"/>
            <a:ext cx="2647950" cy="781050"/>
          </a:xfrm>
          <a:prstGeom prst="rect">
            <a:avLst/>
          </a:prstGeom>
          <a:noFill/>
          <a:ln w="0">
            <a:noFill/>
          </a:ln>
        </p:spPr>
        <p:txBody>
          <a:bodyPr anchor="t">
            <a:noAutofit/>
          </a:bodyPr>
          <a:lstStyle/>
          <a:p>
            <a:pPr>
              <a:defRPr sz="1875" b="0">
                <a:solidFill>
                  <a:srgbClr val="17313A"/>
                </a:solidFill>
                <a:latin typeface="Arial"/>
                <a:ea typeface="Arial"/>
                <a:cs typeface="Arial"/>
              </a:defRPr>
            </a:pPr>
            <a:r>
              <a:rPr sz="1875" b="0">
                <a:solidFill>
                  <a:srgbClr val="17313A"/>
                </a:solidFill>
                <a:latin typeface="Arial"/>
                <a:ea typeface="Arial"/>
                <a:cs typeface="Arial"/>
              </a:rPr>
              <a:t>API boundary</a:t>
            </a:r>
          </a:p>
          <a:p>
            <a:pPr>
              <a:defRPr sz="1875" b="0">
                <a:solidFill>
                  <a:srgbClr val="17313A"/>
                </a:solidFill>
                <a:latin typeface="Arial"/>
                <a:ea typeface="Arial"/>
                <a:cs typeface="Arial"/>
              </a:defRPr>
            </a:pPr>
            <a:r>
              <a:rPr sz="1875" b="0">
                <a:solidFill>
                  <a:srgbClr val="17313A"/>
                </a:solidFill>
                <a:latin typeface="Arial"/>
                <a:ea typeface="Arial"/>
                <a:cs typeface="Arial"/>
              </a:rPr>
              <a:t>and cost model</a:t>
            </a:r>
          </a:p>
        </p:txBody>
      </p:sp>
      <p:sp>
        <p:nvSpPr>
          <p:cNvPr id="15" name="Rectangle 14">
            <a:extLst>
              <a:ext uri="{FF2B5EF4-FFF2-40B4-BE49-F238E27FC236}">
                <a16:creationId xmlns:a16="http://schemas.microsoft.com/office/drawing/2014/main" id="{777946A4-3DF0-412E-AE55-0C7F7E38AA18}"/>
              </a:ext>
            </a:extLst>
          </p:cNvPr>
          <p:cNvSpPr>
            <a:spLocks noGrp="1"/>
          </p:cNvSpPr>
          <p:nvPr/>
        </p:nvSpPr>
        <p:spPr>
          <a:xfrm>
            <a:off x="6210300" y="4638675"/>
            <a:ext cx="2647950" cy="342900"/>
          </a:xfrm>
          <a:prstGeom prst="rect">
            <a:avLst/>
          </a:prstGeom>
          <a:noFill/>
          <a:ln w="0">
            <a:noFill/>
          </a:ln>
        </p:spPr>
        <p:txBody>
          <a:bodyPr anchor="t">
            <a:noAutofit/>
          </a:bodyPr>
          <a:lstStyle/>
          <a:p>
            <a:pPr>
              <a:defRPr sz="1800" b="1">
                <a:solidFill>
                  <a:srgbClr val="087E83"/>
                </a:solidFill>
                <a:latin typeface="Arial"/>
                <a:ea typeface="Arial"/>
                <a:cs typeface="Arial"/>
              </a:defRPr>
            </a:pPr>
            <a:r>
              <a:rPr sz="1800" b="1">
                <a:solidFill>
                  <a:srgbClr val="087E83"/>
                </a:solidFill>
                <a:latin typeface="Arial"/>
                <a:ea typeface="Arial"/>
                <a:cs typeface="Arial"/>
              </a:rPr>
              <a:t>Weeks 8–9</a:t>
            </a:r>
          </a:p>
        </p:txBody>
      </p:sp>
      <p:sp>
        <p:nvSpPr>
          <p:cNvPr id="16" name="Rectangle 15">
            <a:extLst>
              <a:ext uri="{FF2B5EF4-FFF2-40B4-BE49-F238E27FC236}">
                <a16:creationId xmlns:a16="http://schemas.microsoft.com/office/drawing/2014/main" id="{61548433-3158-4EBF-88FA-DCA80A4A3210}"/>
              </a:ext>
            </a:extLst>
          </p:cNvPr>
          <p:cNvSpPr>
            <a:spLocks noGrp="1"/>
          </p:cNvSpPr>
          <p:nvPr/>
        </p:nvSpPr>
        <p:spPr>
          <a:xfrm>
            <a:off x="6210300" y="5105400"/>
            <a:ext cx="2647950" cy="781050"/>
          </a:xfrm>
          <a:prstGeom prst="rect">
            <a:avLst/>
          </a:prstGeom>
          <a:noFill/>
          <a:ln w="0">
            <a:noFill/>
          </a:ln>
        </p:spPr>
        <p:txBody>
          <a:bodyPr anchor="t">
            <a:noAutofit/>
          </a:bodyPr>
          <a:lstStyle/>
          <a:p>
            <a:pPr>
              <a:defRPr sz="1875" b="0">
                <a:solidFill>
                  <a:srgbClr val="17313A"/>
                </a:solidFill>
                <a:latin typeface="Arial"/>
                <a:ea typeface="Arial"/>
                <a:cs typeface="Arial"/>
              </a:defRPr>
            </a:pPr>
            <a:r>
              <a:rPr sz="1875" b="0">
                <a:solidFill>
                  <a:srgbClr val="17313A"/>
                </a:solidFill>
                <a:latin typeface="Arial"/>
                <a:ea typeface="Arial"/>
                <a:cs typeface="Arial"/>
              </a:rPr>
              <a:t>Model pins</a:t>
            </a:r>
          </a:p>
          <a:p>
            <a:pPr>
              <a:defRPr sz="1875" b="0">
                <a:solidFill>
                  <a:srgbClr val="17313A"/>
                </a:solidFill>
                <a:latin typeface="Arial"/>
                <a:ea typeface="Arial"/>
                <a:cs typeface="Arial"/>
              </a:defRPr>
            </a:pPr>
            <a:r>
              <a:rPr sz="1875" b="0">
                <a:solidFill>
                  <a:srgbClr val="17313A"/>
                </a:solidFill>
                <a:latin typeface="Arial"/>
                <a:ea typeface="Arial"/>
                <a:cs typeface="Arial"/>
              </a:rPr>
              <a:t>and masking checks</a:t>
            </a:r>
          </a:p>
        </p:txBody>
      </p:sp>
      <p:sp>
        <p:nvSpPr>
          <p:cNvPr id="17" name="Rectangle 16">
            <a:extLst>
              <a:ext uri="{FF2B5EF4-FFF2-40B4-BE49-F238E27FC236}">
                <a16:creationId xmlns:a16="http://schemas.microsoft.com/office/drawing/2014/main" id="{8BA60F0C-F0D5-4475-8962-87291EAEA43A}"/>
              </a:ext>
            </a:extLst>
          </p:cNvPr>
          <p:cNvSpPr>
            <a:spLocks noGrp="1"/>
          </p:cNvSpPr>
          <p:nvPr/>
        </p:nvSpPr>
        <p:spPr>
          <a:xfrm>
            <a:off x="9048750" y="4638675"/>
            <a:ext cx="2647950" cy="342900"/>
          </a:xfrm>
          <a:prstGeom prst="rect">
            <a:avLst/>
          </a:prstGeom>
          <a:noFill/>
          <a:ln w="0">
            <a:noFill/>
          </a:ln>
        </p:spPr>
        <p:txBody>
          <a:bodyPr anchor="t">
            <a:noAutofit/>
          </a:bodyPr>
          <a:lstStyle/>
          <a:p>
            <a:pPr>
              <a:defRPr sz="1800" b="1">
                <a:solidFill>
                  <a:srgbClr val="087E83"/>
                </a:solidFill>
                <a:latin typeface="Arial"/>
                <a:ea typeface="Arial"/>
                <a:cs typeface="Arial"/>
              </a:defRPr>
            </a:pPr>
            <a:r>
              <a:rPr sz="1800" b="1">
                <a:solidFill>
                  <a:srgbClr val="087E83"/>
                </a:solidFill>
                <a:latin typeface="Arial"/>
                <a:ea typeface="Arial"/>
                <a:cs typeface="Arial"/>
              </a:rPr>
              <a:t>Week 10</a:t>
            </a:r>
          </a:p>
        </p:txBody>
      </p:sp>
      <p:sp>
        <p:nvSpPr>
          <p:cNvPr id="18" name="Rectangle 17">
            <a:extLst>
              <a:ext uri="{FF2B5EF4-FFF2-40B4-BE49-F238E27FC236}">
                <a16:creationId xmlns:a16="http://schemas.microsoft.com/office/drawing/2014/main" id="{9E9764E9-A865-40FA-954E-2C4158205355}"/>
              </a:ext>
            </a:extLst>
          </p:cNvPr>
          <p:cNvSpPr>
            <a:spLocks noGrp="1"/>
          </p:cNvSpPr>
          <p:nvPr/>
        </p:nvSpPr>
        <p:spPr>
          <a:xfrm>
            <a:off x="9048750" y="5105400"/>
            <a:ext cx="2647950" cy="781050"/>
          </a:xfrm>
          <a:prstGeom prst="rect">
            <a:avLst/>
          </a:prstGeom>
          <a:noFill/>
          <a:ln w="0">
            <a:noFill/>
          </a:ln>
        </p:spPr>
        <p:txBody>
          <a:bodyPr anchor="t">
            <a:noAutofit/>
          </a:bodyPr>
          <a:lstStyle/>
          <a:p>
            <a:pPr>
              <a:defRPr sz="1875" b="0">
                <a:solidFill>
                  <a:srgbClr val="17313A"/>
                </a:solidFill>
                <a:latin typeface="Arial"/>
                <a:ea typeface="Arial"/>
                <a:cs typeface="Arial"/>
              </a:defRPr>
            </a:pPr>
            <a:r>
              <a:rPr sz="1875" b="0">
                <a:solidFill>
                  <a:srgbClr val="17313A"/>
                </a:solidFill>
                <a:latin typeface="Arial"/>
                <a:ea typeface="Arial"/>
                <a:cs typeface="Arial"/>
              </a:rPr>
              <a:t>Data-transfer</a:t>
            </a:r>
          </a:p>
          <a:p>
            <a:pPr>
              <a:defRPr sz="1875" b="0">
                <a:solidFill>
                  <a:srgbClr val="17313A"/>
                </a:solidFill>
                <a:latin typeface="Arial"/>
                <a:ea typeface="Arial"/>
                <a:cs typeface="Arial"/>
              </a:defRPr>
            </a:pPr>
            <a:r>
              <a:rPr sz="1875" b="0">
                <a:solidFill>
                  <a:srgbClr val="17313A"/>
                </a:solidFill>
                <a:latin typeface="Arial"/>
                <a:ea typeface="Arial"/>
                <a:cs typeface="Arial"/>
              </a:rPr>
              <a:t>policies</a:t>
            </a:r>
          </a:p>
        </p:txBody>
      </p:sp>
    </p:spTree>
    <p:extLst>
      <p:ext uri="{BB962C8B-B14F-4D97-AF65-F5344CB8AC3E}">
        <p14:creationId xmlns:p14="http://schemas.microsoft.com/office/powerpoint/2010/main" val="2133458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8DE0888-B518-4C81-BFDA-DADF65F8A0CD}"/>
              </a:ext>
            </a:extLst>
          </p:cNvPr>
          <p:cNvSpPr>
            <a:spLocks noGrp="1"/>
          </p:cNvSpPr>
          <p:nvPr/>
        </p:nvSpPr>
        <p:spPr>
          <a:xfrm>
            <a:off x="533400" y="247650"/>
            <a:ext cx="3810000" cy="228600"/>
          </a:xfrm>
          <a:prstGeom prst="rect">
            <a:avLst/>
          </a:prstGeom>
          <a:noFill/>
          <a:ln w="0">
            <a:noFill/>
          </a:ln>
        </p:spPr>
        <p:txBody>
          <a:bodyPr anchor="t">
            <a:noAutofit/>
          </a:bodyPr>
          <a:lstStyle/>
          <a:p>
            <a:pPr>
              <a:defRPr sz="1200" b="1">
                <a:solidFill>
                  <a:srgbClr val="087E83"/>
                </a:solidFill>
                <a:latin typeface="Arial"/>
                <a:ea typeface="Arial"/>
                <a:cs typeface="Arial"/>
              </a:defRPr>
            </a:pPr>
            <a:r>
              <a:rPr sz="1200" b="1">
                <a:solidFill>
                  <a:srgbClr val="087E83"/>
                </a:solidFill>
                <a:latin typeface="Arial"/>
                <a:ea typeface="Arial"/>
                <a:cs typeface="Arial"/>
              </a:rPr>
              <a:t>AFYAPLUS AI</a:t>
            </a:r>
          </a:p>
        </p:txBody>
      </p:sp>
      <p:sp>
        <p:nvSpPr>
          <p:cNvPr id="2" name="Rectangle 1">
            <a:extLst>
              <a:ext uri="{FF2B5EF4-FFF2-40B4-BE49-F238E27FC236}">
                <a16:creationId xmlns:a16="http://schemas.microsoft.com/office/drawing/2014/main" id="{CF215916-2672-4DB2-A0BF-46D1413C537D}"/>
              </a:ext>
            </a:extLst>
          </p:cNvPr>
          <p:cNvSpPr>
            <a:spLocks noGrp="1"/>
          </p:cNvSpPr>
          <p:nvPr/>
        </p:nvSpPr>
        <p:spPr>
          <a:xfrm>
            <a:off x="11068050" y="247650"/>
            <a:ext cx="590550" cy="228600"/>
          </a:xfrm>
          <a:prstGeom prst="rect">
            <a:avLst/>
          </a:prstGeom>
          <a:noFill/>
          <a:ln w="0">
            <a:noFill/>
          </a:ln>
        </p:spPr>
        <p:txBody>
          <a:bodyPr anchor="t">
            <a:noAutofit/>
          </a:bodyPr>
          <a:lstStyle/>
          <a:p>
            <a:pPr>
              <a:defRPr sz="1200" b="1">
                <a:solidFill>
                  <a:srgbClr val="087E83"/>
                </a:solidFill>
                <a:latin typeface="Arial"/>
                <a:ea typeface="Arial"/>
                <a:cs typeface="Arial"/>
              </a:defRPr>
            </a:pPr>
            <a:r>
              <a:rPr sz="1200" b="1">
                <a:solidFill>
                  <a:srgbClr val="087E83"/>
                </a:solidFill>
                <a:latin typeface="Arial"/>
                <a:ea typeface="Arial"/>
                <a:cs typeface="Arial"/>
              </a:rPr>
              <a:t>03</a:t>
            </a:r>
          </a:p>
        </p:txBody>
      </p:sp>
      <p:sp>
        <p:nvSpPr>
          <p:cNvPr id="3" name="Rectangle 2">
            <a:extLst>
              <a:ext uri="{FF2B5EF4-FFF2-40B4-BE49-F238E27FC236}">
                <a16:creationId xmlns:a16="http://schemas.microsoft.com/office/drawing/2014/main" id="{BC8E9DAC-47B4-4CD5-A7C7-7CC55FE33310}"/>
              </a:ext>
            </a:extLst>
          </p:cNvPr>
          <p:cNvSpPr>
            <a:spLocks noGrp="1"/>
          </p:cNvSpPr>
          <p:nvPr/>
        </p:nvSpPr>
        <p:spPr>
          <a:xfrm>
            <a:off x="533400" y="714375"/>
            <a:ext cx="11125200" cy="666750"/>
          </a:xfrm>
          <a:prstGeom prst="rect">
            <a:avLst/>
          </a:prstGeom>
          <a:noFill/>
          <a:ln w="0">
            <a:noFill/>
          </a:ln>
        </p:spPr>
        <p:txBody>
          <a:bodyPr anchor="t">
            <a:noAutofit/>
          </a:bodyPr>
          <a:lstStyle/>
          <a:p>
            <a:pPr>
              <a:defRPr sz="3300" b="1">
                <a:solidFill>
                  <a:srgbClr val="17313A"/>
                </a:solidFill>
                <a:latin typeface="Arial"/>
                <a:ea typeface="Arial"/>
                <a:cs typeface="Arial"/>
              </a:defRPr>
            </a:pPr>
            <a:r>
              <a:rPr sz="3300" b="1">
                <a:solidFill>
                  <a:srgbClr val="17313A"/>
                </a:solidFill>
                <a:latin typeface="Arial"/>
                <a:ea typeface="Arial"/>
                <a:cs typeface="Arial"/>
              </a:rPr>
              <a:t>System infrastructure architecture</a:t>
            </a:r>
          </a:p>
        </p:txBody>
      </p:sp>
      <p:sp>
        <p:nvSpPr>
          <p:cNvPr id="4" name="Rectangle 3">
            <a:extLst>
              <a:ext uri="{FF2B5EF4-FFF2-40B4-BE49-F238E27FC236}">
                <a16:creationId xmlns:a16="http://schemas.microsoft.com/office/drawing/2014/main" id="{B0A88C98-E7B7-4317-88AF-808E8BD2FAA6}"/>
              </a:ext>
            </a:extLst>
          </p:cNvPr>
          <p:cNvSpPr>
            <a:spLocks noGrp="1"/>
          </p:cNvSpPr>
          <p:nvPr/>
        </p:nvSpPr>
        <p:spPr>
          <a:xfrm>
            <a:off x="533400" y="1381125"/>
            <a:ext cx="11125200" cy="514350"/>
          </a:xfrm>
          <a:prstGeom prst="rect">
            <a:avLst/>
          </a:prstGeom>
          <a:noFill/>
          <a:ln w="0">
            <a:noFill/>
          </a:ln>
        </p:spPr>
        <p:txBody>
          <a:bodyPr anchor="t">
            <a:noAutofit/>
          </a:bodyPr>
          <a:lstStyle/>
          <a:p>
            <a:pPr>
              <a:defRPr sz="1725" b="0">
                <a:solidFill>
                  <a:srgbClr val="536A70"/>
                </a:solidFill>
                <a:latin typeface="Arial"/>
                <a:ea typeface="Arial"/>
                <a:cs typeface="Arial"/>
              </a:defRPr>
            </a:pPr>
            <a:r>
              <a:rPr sz="1725" b="0">
                <a:solidFill>
                  <a:srgbClr val="536A70"/>
                </a:solidFill>
                <a:latin typeface="Arial"/>
                <a:ea typeface="Arial"/>
                <a:cs typeface="Arial"/>
              </a:rPr>
              <a:t>Declared design: a boundary layer, a pre-model guard and a privacy-aware log tracker</a:t>
            </a:r>
          </a:p>
        </p:txBody>
      </p:sp>
      <p:sp>
        <p:nvSpPr>
          <p:cNvPr id="5" name="Rectangle 4">
            <a:extLst>
              <a:ext uri="{FF2B5EF4-FFF2-40B4-BE49-F238E27FC236}">
                <a16:creationId xmlns:a16="http://schemas.microsoft.com/office/drawing/2014/main" id="{B28DE186-D494-4E0F-98DA-CDC9800D5603}"/>
              </a:ext>
            </a:extLst>
          </p:cNvPr>
          <p:cNvSpPr>
            <a:spLocks noGrp="1"/>
          </p:cNvSpPr>
          <p:nvPr/>
        </p:nvSpPr>
        <p:spPr>
          <a:xfrm>
            <a:off x="533400" y="6334125"/>
            <a:ext cx="11125200" cy="19050"/>
          </a:xfrm>
          <a:prstGeom prst="rect">
            <a:avLst/>
          </a:prstGeom>
          <a:solidFill>
            <a:srgbClr val="CCDCDA"/>
          </a:solidFill>
          <a:ln w="0">
            <a:noFill/>
          </a:ln>
        </p:spPr>
        <p:txBody>
          <a:bodyPr/>
          <a:lstStyle/>
          <a:p>
            <a:endParaRPr lang="en-US"/>
          </a:p>
        </p:txBody>
      </p:sp>
      <p:sp>
        <p:nvSpPr>
          <p:cNvPr id="6" name="Rectangle 5">
            <a:extLst>
              <a:ext uri="{FF2B5EF4-FFF2-40B4-BE49-F238E27FC236}">
                <a16:creationId xmlns:a16="http://schemas.microsoft.com/office/drawing/2014/main" id="{5FBE6D62-2017-4A47-B8E0-942AFA3B36CE}"/>
              </a:ext>
            </a:extLst>
          </p:cNvPr>
          <p:cNvSpPr>
            <a:spLocks noGrp="1"/>
          </p:cNvSpPr>
          <p:nvPr/>
        </p:nvSpPr>
        <p:spPr>
          <a:xfrm>
            <a:off x="533400" y="6457950"/>
            <a:ext cx="8572500" cy="200025"/>
          </a:xfrm>
          <a:prstGeom prst="rect">
            <a:avLst/>
          </a:prstGeom>
          <a:noFill/>
          <a:ln w="0">
            <a:noFill/>
          </a:ln>
        </p:spPr>
        <p:txBody>
          <a:bodyPr anchor="t">
            <a:noAutofit/>
          </a:bodyPr>
          <a:lstStyle/>
          <a:p>
            <a:pPr>
              <a:defRPr sz="1125" b="0">
                <a:solidFill>
                  <a:srgbClr val="536A70"/>
                </a:solidFill>
                <a:latin typeface="Arial"/>
                <a:ea typeface="Arial"/>
                <a:cs typeface="Arial"/>
              </a:defRPr>
            </a:pPr>
            <a:r>
              <a:rPr sz="1125" b="0">
                <a:solidFill>
                  <a:srgbClr val="536A70"/>
                </a:solidFill>
                <a:latin typeface="Arial"/>
                <a:ea typeface="Arial"/>
                <a:cs typeface="Arial"/>
              </a:rPr>
              <a:t>Integrated capstone</a:t>
            </a:r>
          </a:p>
        </p:txBody>
      </p:sp>
      <p:sp>
        <p:nvSpPr>
          <p:cNvPr id="7" name="Rectangle 6">
            <a:extLst>
              <a:ext uri="{FF2B5EF4-FFF2-40B4-BE49-F238E27FC236}">
                <a16:creationId xmlns:a16="http://schemas.microsoft.com/office/drawing/2014/main" id="{AEF0A1EC-0AA0-4059-B08E-67A016656FDA}"/>
              </a:ext>
            </a:extLst>
          </p:cNvPr>
          <p:cNvSpPr>
            <a:spLocks noGrp="1"/>
          </p:cNvSpPr>
          <p:nvPr/>
        </p:nvSpPr>
        <p:spPr>
          <a:xfrm>
            <a:off x="533400" y="2266950"/>
            <a:ext cx="3352800" cy="2524125"/>
          </a:xfrm>
          <a:prstGeom prst="rect">
            <a:avLst/>
          </a:prstGeom>
          <a:solidFill>
            <a:srgbClr val="F4F8F7"/>
          </a:solidFill>
          <a:ln w="9525">
            <a:solidFill>
              <a:srgbClr val="CCDCDA"/>
            </a:solidFill>
          </a:ln>
        </p:spPr>
        <p:txBody>
          <a:bodyPr/>
          <a:lstStyle/>
          <a:p>
            <a:endParaRPr lang="en-US"/>
          </a:p>
        </p:txBody>
      </p:sp>
      <p:sp>
        <p:nvSpPr>
          <p:cNvPr id="8" name="Rectangle 7">
            <a:extLst>
              <a:ext uri="{FF2B5EF4-FFF2-40B4-BE49-F238E27FC236}">
                <a16:creationId xmlns:a16="http://schemas.microsoft.com/office/drawing/2014/main" id="{90B74D0D-1775-4F1A-A073-332CA5EADE58}"/>
              </a:ext>
            </a:extLst>
          </p:cNvPr>
          <p:cNvSpPr>
            <a:spLocks noGrp="1"/>
          </p:cNvSpPr>
          <p:nvPr/>
        </p:nvSpPr>
        <p:spPr>
          <a:xfrm>
            <a:off x="762000" y="2524125"/>
            <a:ext cx="2924175" cy="504825"/>
          </a:xfrm>
          <a:prstGeom prst="rect">
            <a:avLst/>
          </a:prstGeom>
          <a:noFill/>
          <a:ln w="0">
            <a:noFill/>
          </a:ln>
        </p:spPr>
        <p:txBody>
          <a:bodyPr anchor="t">
            <a:noAutofit/>
          </a:bodyPr>
          <a:lstStyle/>
          <a:p>
            <a:pPr>
              <a:defRPr sz="2175" b="1">
                <a:solidFill>
                  <a:srgbClr val="087E83"/>
                </a:solidFill>
                <a:latin typeface="Arial"/>
                <a:ea typeface="Arial"/>
                <a:cs typeface="Arial"/>
              </a:defRPr>
            </a:pPr>
            <a:r>
              <a:rPr sz="2175" b="1">
                <a:solidFill>
                  <a:srgbClr val="087E83"/>
                </a:solidFill>
                <a:latin typeface="Arial"/>
                <a:ea typeface="Arial"/>
                <a:cs typeface="Arial"/>
              </a:rPr>
              <a:t>01  API boundary</a:t>
            </a:r>
          </a:p>
        </p:txBody>
      </p:sp>
      <p:sp>
        <p:nvSpPr>
          <p:cNvPr id="9" name="Rectangle 8">
            <a:extLst>
              <a:ext uri="{FF2B5EF4-FFF2-40B4-BE49-F238E27FC236}">
                <a16:creationId xmlns:a16="http://schemas.microsoft.com/office/drawing/2014/main" id="{2F502514-7537-4E26-A459-B03992C88745}"/>
              </a:ext>
            </a:extLst>
          </p:cNvPr>
          <p:cNvSpPr>
            <a:spLocks noGrp="1"/>
          </p:cNvSpPr>
          <p:nvPr/>
        </p:nvSpPr>
        <p:spPr>
          <a:xfrm>
            <a:off x="762000" y="3257550"/>
            <a:ext cx="2924175" cy="1304925"/>
          </a:xfrm>
          <a:prstGeom prst="rect">
            <a:avLst/>
          </a:prstGeom>
          <a:noFill/>
          <a:ln w="0">
            <a:noFill/>
          </a:ln>
        </p:spPr>
        <p:txBody>
          <a:bodyPr anchor="t">
            <a:noAutofit/>
          </a:bodyPr>
          <a:lstStyle/>
          <a:p>
            <a:pPr>
              <a:defRPr sz="1800" b="0">
                <a:solidFill>
                  <a:srgbClr val="17313A"/>
                </a:solidFill>
                <a:latin typeface="Arial"/>
                <a:ea typeface="Arial"/>
                <a:cs typeface="Arial"/>
              </a:defRPr>
            </a:pPr>
            <a:r>
              <a:rPr sz="1800" b="0">
                <a:solidFill>
                  <a:srgbClr val="17313A"/>
                </a:solidFill>
                <a:latin typeface="Arial"/>
                <a:ea typeface="Arial"/>
                <a:cs typeface="Arial"/>
              </a:rPr>
              <a:t>FastAPI request routing</a:t>
            </a:r>
          </a:p>
          <a:p>
            <a:pPr>
              <a:defRPr sz="1800" b="0">
                <a:solidFill>
                  <a:srgbClr val="17313A"/>
                </a:solidFill>
                <a:latin typeface="Arial"/>
                <a:ea typeface="Arial"/>
                <a:cs typeface="Arial"/>
              </a:defRPr>
            </a:pPr>
            <a:r>
              <a:rPr sz="1800" b="0">
                <a:solidFill>
                  <a:srgbClr val="17313A"/>
                </a:solidFill>
                <a:latin typeface="Arial"/>
                <a:ea typeface="Arial"/>
                <a:cs typeface="Arial"/>
              </a:rPr>
              <a:t>Authorization context</a:t>
            </a:r>
          </a:p>
          <a:p>
            <a:pPr>
              <a:defRPr sz="1800" b="0">
                <a:solidFill>
                  <a:srgbClr val="17313A"/>
                </a:solidFill>
                <a:latin typeface="Arial"/>
                <a:ea typeface="Arial"/>
                <a:cs typeface="Arial"/>
              </a:defRPr>
            </a:pPr>
            <a:r>
              <a:rPr sz="1800" b="0">
                <a:solidFill>
                  <a:srgbClr val="17313A"/>
                </a:solidFill>
                <a:latin typeface="Arial"/>
                <a:ea typeface="Arial"/>
                <a:cs typeface="Arial"/>
              </a:rPr>
              <a:t>Role and symptom input</a:t>
            </a:r>
          </a:p>
        </p:txBody>
      </p:sp>
      <p:sp>
        <p:nvSpPr>
          <p:cNvPr id="10" name="Rectangle 9">
            <a:extLst>
              <a:ext uri="{FF2B5EF4-FFF2-40B4-BE49-F238E27FC236}">
                <a16:creationId xmlns:a16="http://schemas.microsoft.com/office/drawing/2014/main" id="{CB11B1C2-6B1B-4588-90CA-26AD70CAD8E9}"/>
              </a:ext>
            </a:extLst>
          </p:cNvPr>
          <p:cNvSpPr>
            <a:spLocks noGrp="1"/>
          </p:cNvSpPr>
          <p:nvPr/>
        </p:nvSpPr>
        <p:spPr>
          <a:xfrm>
            <a:off x="4419600" y="2266950"/>
            <a:ext cx="3352800" cy="2524125"/>
          </a:xfrm>
          <a:prstGeom prst="rect">
            <a:avLst/>
          </a:prstGeom>
          <a:solidFill>
            <a:srgbClr val="F4F8F7"/>
          </a:solidFill>
          <a:ln w="9525">
            <a:solidFill>
              <a:srgbClr val="CCDCDA"/>
            </a:solidFill>
          </a:ln>
        </p:spPr>
        <p:txBody>
          <a:bodyPr/>
          <a:lstStyle/>
          <a:p>
            <a:endParaRPr lang="en-US"/>
          </a:p>
        </p:txBody>
      </p:sp>
      <p:sp>
        <p:nvSpPr>
          <p:cNvPr id="11" name="Rectangle 10">
            <a:extLst>
              <a:ext uri="{FF2B5EF4-FFF2-40B4-BE49-F238E27FC236}">
                <a16:creationId xmlns:a16="http://schemas.microsoft.com/office/drawing/2014/main" id="{9AEA8E32-82C9-41FC-861F-AFC191AC7EF7}"/>
              </a:ext>
            </a:extLst>
          </p:cNvPr>
          <p:cNvSpPr>
            <a:spLocks noGrp="1"/>
          </p:cNvSpPr>
          <p:nvPr/>
        </p:nvSpPr>
        <p:spPr>
          <a:xfrm>
            <a:off x="4648200" y="2524125"/>
            <a:ext cx="2924175" cy="504825"/>
          </a:xfrm>
          <a:prstGeom prst="rect">
            <a:avLst/>
          </a:prstGeom>
          <a:noFill/>
          <a:ln w="0">
            <a:noFill/>
          </a:ln>
        </p:spPr>
        <p:txBody>
          <a:bodyPr anchor="t">
            <a:noAutofit/>
          </a:bodyPr>
          <a:lstStyle/>
          <a:p>
            <a:pPr>
              <a:defRPr sz="2175" b="1">
                <a:solidFill>
                  <a:srgbClr val="087E83"/>
                </a:solidFill>
                <a:latin typeface="Arial"/>
                <a:ea typeface="Arial"/>
                <a:cs typeface="Arial"/>
              </a:defRPr>
            </a:pPr>
            <a:r>
              <a:rPr sz="2175" b="1">
                <a:solidFill>
                  <a:srgbClr val="087E83"/>
                </a:solidFill>
                <a:latin typeface="Arial"/>
                <a:ea typeface="Arial"/>
                <a:cs typeface="Arial"/>
              </a:rPr>
              <a:t>02  Injection guard</a:t>
            </a:r>
          </a:p>
        </p:txBody>
      </p:sp>
      <p:sp>
        <p:nvSpPr>
          <p:cNvPr id="12" name="Rectangle 11">
            <a:extLst>
              <a:ext uri="{FF2B5EF4-FFF2-40B4-BE49-F238E27FC236}">
                <a16:creationId xmlns:a16="http://schemas.microsoft.com/office/drawing/2014/main" id="{5D0B8C3C-52B9-4CEE-B505-8BE664E8C3FE}"/>
              </a:ext>
            </a:extLst>
          </p:cNvPr>
          <p:cNvSpPr>
            <a:spLocks noGrp="1"/>
          </p:cNvSpPr>
          <p:nvPr/>
        </p:nvSpPr>
        <p:spPr>
          <a:xfrm>
            <a:off x="4648200" y="3257550"/>
            <a:ext cx="2924175" cy="1304925"/>
          </a:xfrm>
          <a:prstGeom prst="rect">
            <a:avLst/>
          </a:prstGeom>
          <a:noFill/>
          <a:ln w="0">
            <a:noFill/>
          </a:ln>
        </p:spPr>
        <p:txBody>
          <a:bodyPr anchor="t">
            <a:noAutofit/>
          </a:bodyPr>
          <a:lstStyle/>
          <a:p>
            <a:pPr>
              <a:defRPr sz="1800" b="0">
                <a:solidFill>
                  <a:srgbClr val="17313A"/>
                </a:solidFill>
                <a:latin typeface="Arial"/>
                <a:ea typeface="Arial"/>
                <a:cs typeface="Arial"/>
              </a:defRPr>
            </a:pPr>
            <a:r>
              <a:rPr sz="1800" b="0">
                <a:solidFill>
                  <a:srgbClr val="17313A"/>
                </a:solidFill>
                <a:latin typeface="Arial"/>
                <a:ea typeface="Arial"/>
                <a:cs typeface="Arial"/>
              </a:rPr>
              <a:t>Screen before model use</a:t>
            </a:r>
          </a:p>
          <a:p>
            <a:pPr>
              <a:defRPr sz="1800" b="0">
                <a:solidFill>
                  <a:srgbClr val="17313A"/>
                </a:solidFill>
                <a:latin typeface="Arial"/>
                <a:ea typeface="Arial"/>
                <a:cs typeface="Arial"/>
              </a:defRPr>
            </a:pPr>
            <a:r>
              <a:rPr sz="1800" b="0">
                <a:solidFill>
                  <a:srgbClr val="17313A"/>
                </a:solidFill>
                <a:latin typeface="Arial"/>
                <a:ea typeface="Arial"/>
                <a:cs typeface="Arial"/>
              </a:rPr>
              <a:t>Reject unsafe input</a:t>
            </a:r>
          </a:p>
          <a:p>
            <a:pPr>
              <a:defRPr sz="1800" b="0">
                <a:solidFill>
                  <a:srgbClr val="17313A"/>
                </a:solidFill>
                <a:latin typeface="Arial"/>
                <a:ea typeface="Arial"/>
                <a:cs typeface="Arial"/>
              </a:defRPr>
            </a:pPr>
            <a:r>
              <a:rPr sz="1800" b="0">
                <a:solidFill>
                  <a:srgbClr val="17313A"/>
                </a:solidFill>
                <a:latin typeface="Arial"/>
                <a:ea typeface="Arial"/>
                <a:cs typeface="Arial"/>
              </a:rPr>
              <a:t>HTTP 400 demo target</a:t>
            </a:r>
          </a:p>
        </p:txBody>
      </p:sp>
      <p:sp>
        <p:nvSpPr>
          <p:cNvPr id="13" name="Rectangle 12">
            <a:extLst>
              <a:ext uri="{FF2B5EF4-FFF2-40B4-BE49-F238E27FC236}">
                <a16:creationId xmlns:a16="http://schemas.microsoft.com/office/drawing/2014/main" id="{0CFD9F43-9248-4655-800E-C63C70B29C73}"/>
              </a:ext>
            </a:extLst>
          </p:cNvPr>
          <p:cNvSpPr>
            <a:spLocks noGrp="1"/>
          </p:cNvSpPr>
          <p:nvPr/>
        </p:nvSpPr>
        <p:spPr>
          <a:xfrm>
            <a:off x="8305800" y="2266950"/>
            <a:ext cx="3352800" cy="2524125"/>
          </a:xfrm>
          <a:prstGeom prst="rect">
            <a:avLst/>
          </a:prstGeom>
          <a:solidFill>
            <a:srgbClr val="DDF3ED"/>
          </a:solidFill>
          <a:ln w="9525">
            <a:solidFill>
              <a:srgbClr val="CCDCDA"/>
            </a:solidFill>
          </a:ln>
        </p:spPr>
        <p:txBody>
          <a:bodyPr/>
          <a:lstStyle/>
          <a:p>
            <a:endParaRPr lang="en-US"/>
          </a:p>
        </p:txBody>
      </p:sp>
      <p:sp>
        <p:nvSpPr>
          <p:cNvPr id="14" name="Rectangle 13">
            <a:extLst>
              <a:ext uri="{FF2B5EF4-FFF2-40B4-BE49-F238E27FC236}">
                <a16:creationId xmlns:a16="http://schemas.microsoft.com/office/drawing/2014/main" id="{070F92FB-3C2C-43DC-8B46-A5E5E72EDF56}"/>
              </a:ext>
            </a:extLst>
          </p:cNvPr>
          <p:cNvSpPr>
            <a:spLocks noGrp="1"/>
          </p:cNvSpPr>
          <p:nvPr/>
        </p:nvSpPr>
        <p:spPr>
          <a:xfrm>
            <a:off x="8534400" y="2524125"/>
            <a:ext cx="2924175" cy="504825"/>
          </a:xfrm>
          <a:prstGeom prst="rect">
            <a:avLst/>
          </a:prstGeom>
          <a:noFill/>
          <a:ln w="0">
            <a:noFill/>
          </a:ln>
        </p:spPr>
        <p:txBody>
          <a:bodyPr anchor="t">
            <a:noAutofit/>
          </a:bodyPr>
          <a:lstStyle/>
          <a:p>
            <a:pPr>
              <a:defRPr sz="2175" b="1">
                <a:solidFill>
                  <a:srgbClr val="087E83"/>
                </a:solidFill>
                <a:latin typeface="Arial"/>
                <a:ea typeface="Arial"/>
                <a:cs typeface="Arial"/>
              </a:defRPr>
            </a:pPr>
            <a:r>
              <a:rPr sz="2175" b="1">
                <a:solidFill>
                  <a:srgbClr val="087E83"/>
                </a:solidFill>
                <a:latin typeface="Arial"/>
                <a:ea typeface="Arial"/>
                <a:cs typeface="Arial"/>
              </a:rPr>
              <a:t>03  Log tracker</a:t>
            </a:r>
          </a:p>
        </p:txBody>
      </p:sp>
      <p:sp>
        <p:nvSpPr>
          <p:cNvPr id="15" name="Rectangle 14">
            <a:extLst>
              <a:ext uri="{FF2B5EF4-FFF2-40B4-BE49-F238E27FC236}">
                <a16:creationId xmlns:a16="http://schemas.microsoft.com/office/drawing/2014/main" id="{2C024667-08E8-4A6D-8921-81AEDADA5C1F}"/>
              </a:ext>
            </a:extLst>
          </p:cNvPr>
          <p:cNvSpPr>
            <a:spLocks noGrp="1"/>
          </p:cNvSpPr>
          <p:nvPr/>
        </p:nvSpPr>
        <p:spPr>
          <a:xfrm>
            <a:off x="8534400" y="3257550"/>
            <a:ext cx="2924175" cy="1304925"/>
          </a:xfrm>
          <a:prstGeom prst="rect">
            <a:avLst/>
          </a:prstGeom>
          <a:noFill/>
          <a:ln w="0">
            <a:noFill/>
          </a:ln>
        </p:spPr>
        <p:txBody>
          <a:bodyPr anchor="t">
            <a:noAutofit/>
          </a:bodyPr>
          <a:lstStyle/>
          <a:p>
            <a:pPr>
              <a:defRPr sz="1800" b="0">
                <a:solidFill>
                  <a:srgbClr val="17313A"/>
                </a:solidFill>
                <a:latin typeface="Arial"/>
                <a:ea typeface="Arial"/>
                <a:cs typeface="Arial"/>
              </a:defRPr>
            </a:pPr>
            <a:r>
              <a:rPr sz="1800" b="0">
                <a:solidFill>
                  <a:srgbClr val="17313A"/>
                </a:solidFill>
                <a:latin typeface="Arial"/>
                <a:ea typeface="Arial"/>
                <a:cs typeface="Arial"/>
              </a:rPr>
              <a:t>Remove sensitive strings</a:t>
            </a:r>
          </a:p>
          <a:p>
            <a:pPr>
              <a:defRPr sz="1800" b="0">
                <a:solidFill>
                  <a:srgbClr val="17313A"/>
                </a:solidFill>
                <a:latin typeface="Arial"/>
                <a:ea typeface="Arial"/>
                <a:cs typeface="Arial"/>
              </a:defRPr>
            </a:pPr>
            <a:r>
              <a:rPr sz="1800" b="0">
                <a:solidFill>
                  <a:srgbClr val="17313A"/>
                </a:solidFill>
                <a:latin typeface="Arial"/>
                <a:ea typeface="Arial"/>
                <a:cs typeface="Arial"/>
              </a:rPr>
              <a:t>Hash payload with SHA-256</a:t>
            </a:r>
          </a:p>
          <a:p>
            <a:pPr>
              <a:defRPr sz="1800" b="0">
                <a:solidFill>
                  <a:srgbClr val="17313A"/>
                </a:solidFill>
                <a:latin typeface="Arial"/>
                <a:ea typeface="Arial"/>
                <a:cs typeface="Arial"/>
              </a:defRPr>
            </a:pPr>
            <a:r>
              <a:rPr sz="1800" b="0">
                <a:solidFill>
                  <a:srgbClr val="17313A"/>
                </a:solidFill>
                <a:latin typeface="Arial"/>
                <a:ea typeface="Arial"/>
                <a:cs typeface="Arial"/>
              </a:rPr>
              <a:t>Write tracking record</a:t>
            </a:r>
          </a:p>
        </p:txBody>
      </p:sp>
      <p:cxnSp>
        <p:nvCxnSpPr>
          <p:cNvPr id="16" name="Straight Arrow Connector 15"/>
          <p:cNvCxnSpPr>
            <a:stCxn id="7" idx="3"/>
            <a:endCxn id="10" idx="1"/>
          </p:cNvCxnSpPr>
          <p:nvPr/>
        </p:nvCxnSpPr>
        <p:spPr>
          <a:xfrm>
            <a:off x="3886200" y="3529013"/>
            <a:ext cx="533400" cy="0"/>
          </a:xfrm>
          <a:prstGeom prst="straightConnector1">
            <a:avLst/>
          </a:prstGeom>
          <a:ln w="19050">
            <a:solidFill>
              <a:srgbClr val="087E83"/>
            </a:solidFill>
            <a:tailEnd type="arrow" w="med" len="med"/>
          </a:ln>
        </p:spPr>
      </p:cxnSp>
      <p:cxnSp>
        <p:nvCxnSpPr>
          <p:cNvPr id="17" name="Straight Arrow Connector 16"/>
          <p:cNvCxnSpPr>
            <a:stCxn id="10" idx="3"/>
            <a:endCxn id="13" idx="1"/>
          </p:cNvCxnSpPr>
          <p:nvPr/>
        </p:nvCxnSpPr>
        <p:spPr>
          <a:xfrm>
            <a:off x="7772400" y="3529013"/>
            <a:ext cx="533400" cy="0"/>
          </a:xfrm>
          <a:prstGeom prst="straightConnector1">
            <a:avLst/>
          </a:prstGeom>
          <a:ln w="19050">
            <a:solidFill>
              <a:srgbClr val="087E83"/>
            </a:solidFill>
            <a:tailEnd type="arrow" w="med" len="med"/>
          </a:ln>
        </p:spPr>
      </p:cxnSp>
      <p:sp>
        <p:nvSpPr>
          <p:cNvPr id="18" name="Rectangle 17">
            <a:extLst>
              <a:ext uri="{FF2B5EF4-FFF2-40B4-BE49-F238E27FC236}">
                <a16:creationId xmlns:a16="http://schemas.microsoft.com/office/drawing/2014/main" id="{E936D139-E84B-4F7A-BAFF-97610DEC5378}"/>
              </a:ext>
            </a:extLst>
          </p:cNvPr>
          <p:cNvSpPr>
            <a:spLocks noGrp="1"/>
          </p:cNvSpPr>
          <p:nvPr/>
        </p:nvSpPr>
        <p:spPr>
          <a:xfrm>
            <a:off x="533400" y="5143500"/>
            <a:ext cx="10858500" cy="457200"/>
          </a:xfrm>
          <a:prstGeom prst="rect">
            <a:avLst/>
          </a:prstGeom>
          <a:noFill/>
          <a:ln w="0">
            <a:noFill/>
          </a:ln>
        </p:spPr>
        <p:txBody>
          <a:bodyPr anchor="t">
            <a:noAutofit/>
          </a:bodyPr>
          <a:lstStyle/>
          <a:p>
            <a:pPr>
              <a:defRPr sz="2025" b="1">
                <a:solidFill>
                  <a:srgbClr val="17313A"/>
                </a:solidFill>
                <a:latin typeface="Arial"/>
                <a:ea typeface="Arial"/>
                <a:cs typeface="Arial"/>
              </a:defRPr>
            </a:pPr>
            <a:r>
              <a:rPr sz="2025" b="1">
                <a:solidFill>
                  <a:srgbClr val="17313A"/>
                </a:solidFill>
                <a:latin typeface="Arial"/>
                <a:ea typeface="Arial"/>
                <a:cs typeface="Arial"/>
              </a:rPr>
              <a:t>Triage router and local MCP stub sit within the application pipeline.</a:t>
            </a:r>
          </a:p>
        </p:txBody>
      </p:sp>
      <p:sp>
        <p:nvSpPr>
          <p:cNvPr id="19" name="Rectangle 18">
            <a:extLst>
              <a:ext uri="{FF2B5EF4-FFF2-40B4-BE49-F238E27FC236}">
                <a16:creationId xmlns:a16="http://schemas.microsoft.com/office/drawing/2014/main" id="{B590DD98-FD1E-41C7-9310-957A32785909}"/>
              </a:ext>
            </a:extLst>
          </p:cNvPr>
          <p:cNvSpPr>
            <a:spLocks noGrp="1"/>
          </p:cNvSpPr>
          <p:nvPr/>
        </p:nvSpPr>
        <p:spPr>
          <a:xfrm>
            <a:off x="533400" y="5772150"/>
            <a:ext cx="10858500" cy="381000"/>
          </a:xfrm>
          <a:prstGeom prst="rect">
            <a:avLst/>
          </a:prstGeom>
          <a:noFill/>
          <a:ln w="0">
            <a:noFill/>
          </a:ln>
        </p:spPr>
        <p:txBody>
          <a:bodyPr anchor="t">
            <a:noAutofit/>
          </a:bodyPr>
          <a:lstStyle/>
          <a:p>
            <a:pPr>
              <a:defRPr sz="1500" b="0">
                <a:solidFill>
                  <a:srgbClr val="536A70"/>
                </a:solidFill>
                <a:latin typeface="Arial"/>
                <a:ea typeface="Arial"/>
                <a:cs typeface="Arial"/>
              </a:defRPr>
            </a:pPr>
            <a:r>
              <a:rPr sz="1500" b="0">
                <a:solidFill>
                  <a:srgbClr val="536A70"/>
                </a:solidFill>
                <a:latin typeface="Arial"/>
                <a:ea typeface="Arial"/>
                <a:cs typeface="Arial"/>
              </a:rPr>
              <a:t>Schematic only. The supplied excerpts do not establish exact call order or deployment behavior.</a:t>
            </a:r>
          </a:p>
        </p:txBody>
      </p:sp>
    </p:spTree>
    <p:extLst>
      <p:ext uri="{BB962C8B-B14F-4D97-AF65-F5344CB8AC3E}">
        <p14:creationId xmlns:p14="http://schemas.microsoft.com/office/powerpoint/2010/main" val="304990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4CB6A32-B70C-4856-8BFA-7C041A9301D0}"/>
              </a:ext>
            </a:extLst>
          </p:cNvPr>
          <p:cNvSpPr>
            <a:spLocks noGrp="1"/>
          </p:cNvSpPr>
          <p:nvPr/>
        </p:nvSpPr>
        <p:spPr>
          <a:xfrm>
            <a:off x="533400" y="247650"/>
            <a:ext cx="3810000" cy="228600"/>
          </a:xfrm>
          <a:prstGeom prst="rect">
            <a:avLst/>
          </a:prstGeom>
          <a:noFill/>
          <a:ln w="0">
            <a:noFill/>
          </a:ln>
        </p:spPr>
        <p:txBody>
          <a:bodyPr anchor="t">
            <a:noAutofit/>
          </a:bodyPr>
          <a:lstStyle/>
          <a:p>
            <a:pPr>
              <a:defRPr sz="1200" b="1">
                <a:solidFill>
                  <a:srgbClr val="087E83"/>
                </a:solidFill>
                <a:latin typeface="Arial"/>
                <a:ea typeface="Arial"/>
                <a:cs typeface="Arial"/>
              </a:defRPr>
            </a:pPr>
            <a:r>
              <a:rPr sz="1200" b="1">
                <a:solidFill>
                  <a:srgbClr val="087E83"/>
                </a:solidFill>
                <a:latin typeface="Arial"/>
                <a:ea typeface="Arial"/>
                <a:cs typeface="Arial"/>
              </a:rPr>
              <a:t>AFYAPLUS AI</a:t>
            </a:r>
          </a:p>
        </p:txBody>
      </p:sp>
      <p:sp>
        <p:nvSpPr>
          <p:cNvPr id="2" name="Rectangle 1">
            <a:extLst>
              <a:ext uri="{FF2B5EF4-FFF2-40B4-BE49-F238E27FC236}">
                <a16:creationId xmlns:a16="http://schemas.microsoft.com/office/drawing/2014/main" id="{CDB2A683-550D-4820-904B-4416B0C0168B}"/>
              </a:ext>
            </a:extLst>
          </p:cNvPr>
          <p:cNvSpPr>
            <a:spLocks noGrp="1"/>
          </p:cNvSpPr>
          <p:nvPr/>
        </p:nvSpPr>
        <p:spPr>
          <a:xfrm>
            <a:off x="11068050" y="247650"/>
            <a:ext cx="590550" cy="228600"/>
          </a:xfrm>
          <a:prstGeom prst="rect">
            <a:avLst/>
          </a:prstGeom>
          <a:noFill/>
          <a:ln w="0">
            <a:noFill/>
          </a:ln>
        </p:spPr>
        <p:txBody>
          <a:bodyPr anchor="t">
            <a:noAutofit/>
          </a:bodyPr>
          <a:lstStyle/>
          <a:p>
            <a:pPr>
              <a:defRPr sz="1200" b="1">
                <a:solidFill>
                  <a:srgbClr val="087E83"/>
                </a:solidFill>
                <a:latin typeface="Arial"/>
                <a:ea typeface="Arial"/>
                <a:cs typeface="Arial"/>
              </a:defRPr>
            </a:pPr>
            <a:r>
              <a:rPr sz="1200" b="1">
                <a:solidFill>
                  <a:srgbClr val="087E83"/>
                </a:solidFill>
                <a:latin typeface="Arial"/>
                <a:ea typeface="Arial"/>
                <a:cs typeface="Arial"/>
              </a:rPr>
              <a:t>04</a:t>
            </a:r>
          </a:p>
        </p:txBody>
      </p:sp>
      <p:sp>
        <p:nvSpPr>
          <p:cNvPr id="3" name="Rectangle 2">
            <a:extLst>
              <a:ext uri="{FF2B5EF4-FFF2-40B4-BE49-F238E27FC236}">
                <a16:creationId xmlns:a16="http://schemas.microsoft.com/office/drawing/2014/main" id="{F9A88501-77FA-4576-9D4F-A181D73D979E}"/>
              </a:ext>
            </a:extLst>
          </p:cNvPr>
          <p:cNvSpPr>
            <a:spLocks noGrp="1"/>
          </p:cNvSpPr>
          <p:nvPr/>
        </p:nvSpPr>
        <p:spPr>
          <a:xfrm>
            <a:off x="533400" y="714375"/>
            <a:ext cx="11125200" cy="666750"/>
          </a:xfrm>
          <a:prstGeom prst="rect">
            <a:avLst/>
          </a:prstGeom>
          <a:noFill/>
          <a:ln w="0">
            <a:noFill/>
          </a:ln>
        </p:spPr>
        <p:txBody>
          <a:bodyPr anchor="t">
            <a:noAutofit/>
          </a:bodyPr>
          <a:lstStyle/>
          <a:p>
            <a:pPr>
              <a:defRPr sz="3300" b="1">
                <a:solidFill>
                  <a:srgbClr val="17313A"/>
                </a:solidFill>
                <a:latin typeface="Arial"/>
                <a:ea typeface="Arial"/>
                <a:cs typeface="Arial"/>
              </a:defRPr>
            </a:pPr>
            <a:r>
              <a:rPr sz="3300" b="1">
                <a:solidFill>
                  <a:srgbClr val="17313A"/>
                </a:solidFill>
                <a:latin typeface="Arial"/>
                <a:ea typeface="Arial"/>
                <a:cs typeface="Arial"/>
              </a:rPr>
              <a:t>Week resource skill coverage</a:t>
            </a:r>
          </a:p>
        </p:txBody>
      </p:sp>
      <p:sp>
        <p:nvSpPr>
          <p:cNvPr id="4" name="Rectangle 3">
            <a:extLst>
              <a:ext uri="{FF2B5EF4-FFF2-40B4-BE49-F238E27FC236}">
                <a16:creationId xmlns:a16="http://schemas.microsoft.com/office/drawing/2014/main" id="{DCF4F5F6-D6EC-47FB-B336-2FC6FDACBEBF}"/>
              </a:ext>
            </a:extLst>
          </p:cNvPr>
          <p:cNvSpPr>
            <a:spLocks noGrp="1"/>
          </p:cNvSpPr>
          <p:nvPr/>
        </p:nvSpPr>
        <p:spPr>
          <a:xfrm>
            <a:off x="533400" y="1381125"/>
            <a:ext cx="11125200" cy="514350"/>
          </a:xfrm>
          <a:prstGeom prst="rect">
            <a:avLst/>
          </a:prstGeom>
          <a:noFill/>
          <a:ln w="0">
            <a:noFill/>
          </a:ln>
        </p:spPr>
        <p:txBody>
          <a:bodyPr anchor="t">
            <a:noAutofit/>
          </a:bodyPr>
          <a:lstStyle/>
          <a:p>
            <a:pPr>
              <a:defRPr sz="1725" b="0">
                <a:solidFill>
                  <a:srgbClr val="536A70"/>
                </a:solidFill>
                <a:latin typeface="Arial"/>
                <a:ea typeface="Arial"/>
                <a:cs typeface="Arial"/>
              </a:defRPr>
            </a:pPr>
            <a:r>
              <a:rPr sz="1725" b="0">
                <a:solidFill>
                  <a:srgbClr val="536A70"/>
                </a:solidFill>
                <a:latin typeface="Arial"/>
                <a:ea typeface="Arial"/>
                <a:cs typeface="Arial"/>
              </a:rPr>
              <a:t>Repository navigation mapped to the declared curriculum reuse</a:t>
            </a:r>
          </a:p>
        </p:txBody>
      </p:sp>
      <p:sp>
        <p:nvSpPr>
          <p:cNvPr id="5" name="Rectangle 4">
            <a:extLst>
              <a:ext uri="{FF2B5EF4-FFF2-40B4-BE49-F238E27FC236}">
                <a16:creationId xmlns:a16="http://schemas.microsoft.com/office/drawing/2014/main" id="{29B567B9-D2FD-44EF-B7F1-E3BEAA14D8B4}"/>
              </a:ext>
            </a:extLst>
          </p:cNvPr>
          <p:cNvSpPr>
            <a:spLocks noGrp="1"/>
          </p:cNvSpPr>
          <p:nvPr/>
        </p:nvSpPr>
        <p:spPr>
          <a:xfrm>
            <a:off x="533400" y="6334125"/>
            <a:ext cx="11125200" cy="19050"/>
          </a:xfrm>
          <a:prstGeom prst="rect">
            <a:avLst/>
          </a:prstGeom>
          <a:solidFill>
            <a:srgbClr val="CCDCDA"/>
          </a:solidFill>
          <a:ln w="0">
            <a:noFill/>
          </a:ln>
        </p:spPr>
        <p:txBody>
          <a:bodyPr/>
          <a:lstStyle/>
          <a:p>
            <a:endParaRPr lang="en-US"/>
          </a:p>
        </p:txBody>
      </p:sp>
      <p:sp>
        <p:nvSpPr>
          <p:cNvPr id="6" name="Rectangle 5">
            <a:extLst>
              <a:ext uri="{FF2B5EF4-FFF2-40B4-BE49-F238E27FC236}">
                <a16:creationId xmlns:a16="http://schemas.microsoft.com/office/drawing/2014/main" id="{8FCA2C91-B8F2-4776-94D3-56F79BA88975}"/>
              </a:ext>
            </a:extLst>
          </p:cNvPr>
          <p:cNvSpPr>
            <a:spLocks noGrp="1"/>
          </p:cNvSpPr>
          <p:nvPr/>
        </p:nvSpPr>
        <p:spPr>
          <a:xfrm>
            <a:off x="533400" y="6457950"/>
            <a:ext cx="8572500" cy="200025"/>
          </a:xfrm>
          <a:prstGeom prst="rect">
            <a:avLst/>
          </a:prstGeom>
          <a:noFill/>
          <a:ln w="0">
            <a:noFill/>
          </a:ln>
        </p:spPr>
        <p:txBody>
          <a:bodyPr anchor="t">
            <a:noAutofit/>
          </a:bodyPr>
          <a:lstStyle/>
          <a:p>
            <a:pPr>
              <a:defRPr sz="1125" b="0">
                <a:solidFill>
                  <a:srgbClr val="536A70"/>
                </a:solidFill>
                <a:latin typeface="Arial"/>
                <a:ea typeface="Arial"/>
                <a:cs typeface="Arial"/>
              </a:defRPr>
            </a:pPr>
            <a:r>
              <a:rPr sz="1125" b="0">
                <a:solidFill>
                  <a:srgbClr val="536A70"/>
                </a:solidFill>
                <a:latin typeface="Arial"/>
                <a:ea typeface="Arial"/>
                <a:cs typeface="Arial"/>
              </a:rPr>
              <a:t>Integrated capstone</a:t>
            </a:r>
          </a:p>
        </p:txBody>
      </p:sp>
      <p:graphicFrame>
        <p:nvGraphicFramePr>
          <p:cNvPr id="7" name="Table 6"/>
          <p:cNvGraphicFramePr/>
          <p:nvPr/>
        </p:nvGraphicFramePr>
        <p:xfrm>
          <a:off x="533400" y="2057400"/>
          <a:ext cx="11125200" cy="3886197"/>
        </p:xfrm>
        <a:graphic>
          <a:graphicData uri="http://schemas.openxmlformats.org/drawingml/2006/table">
            <a:tbl>
              <a:tblPr/>
              <a:tblGrid>
                <a:gridCol w="1190625">
                  <a:extLst>
                    <a:ext uri="{9D8B030D-6E8A-4147-A177-3AD203B41FA5}">
                      <a16:colId xmlns:a16="http://schemas.microsoft.com/office/drawing/2014/main" val="20000"/>
                    </a:ext>
                  </a:extLst>
                </a:gridCol>
                <a:gridCol w="4333875">
                  <a:extLst>
                    <a:ext uri="{9D8B030D-6E8A-4147-A177-3AD203B41FA5}">
                      <a16:colId xmlns:a16="http://schemas.microsoft.com/office/drawing/2014/main" val="20001"/>
                    </a:ext>
                  </a:extLst>
                </a:gridCol>
                <a:gridCol w="5600700">
                  <a:extLst>
                    <a:ext uri="{9D8B030D-6E8A-4147-A177-3AD203B41FA5}">
                      <a16:colId xmlns:a16="http://schemas.microsoft.com/office/drawing/2014/main" val="20002"/>
                    </a:ext>
                  </a:extLst>
                </a:gridCol>
              </a:tblGrid>
              <a:tr h="555171">
                <a:tc>
                  <a:txBody>
                    <a:bodyPr/>
                    <a:lstStyle/>
                    <a:p>
                      <a:r>
                        <a:rPr sz="1800" b="1">
                          <a:solidFill>
                            <a:srgbClr val="FFFFFF"/>
                          </a:solidFill>
                          <a:latin typeface="Arial"/>
                          <a:ea typeface="Arial"/>
                          <a:cs typeface="Arial"/>
                        </a:rPr>
                        <a:t>Week</a:t>
                      </a:r>
                    </a:p>
                  </a:txBody>
                  <a:tcPr>
                    <a:solidFill>
                      <a:srgbClr val="123C43"/>
                    </a:solidFill>
                  </a:tcPr>
                </a:tc>
                <a:tc>
                  <a:txBody>
                    <a:bodyPr/>
                    <a:lstStyle/>
                    <a:p>
                      <a:r>
                        <a:rPr sz="1800" b="1">
                          <a:solidFill>
                            <a:srgbClr val="FFFFFF"/>
                          </a:solidFill>
                          <a:latin typeface="Arial"/>
                          <a:ea typeface="Arial"/>
                          <a:cs typeface="Arial"/>
                        </a:rPr>
                        <a:t>Capability</a:t>
                      </a:r>
                    </a:p>
                  </a:txBody>
                  <a:tcPr>
                    <a:solidFill>
                      <a:srgbClr val="123C43"/>
                    </a:solidFill>
                  </a:tcPr>
                </a:tc>
                <a:tc>
                  <a:txBody>
                    <a:bodyPr/>
                    <a:lstStyle/>
                    <a:p>
                      <a:r>
                        <a:rPr sz="1800" b="1">
                          <a:solidFill>
                            <a:srgbClr val="FFFFFF"/>
                          </a:solidFill>
                          <a:latin typeface="Arial"/>
                          <a:ea typeface="Arial"/>
                          <a:cs typeface="Arial"/>
                        </a:rPr>
                        <a:t>Source artifact</a:t>
                      </a:r>
                    </a:p>
                  </a:txBody>
                  <a:tcPr>
                    <a:solidFill>
                      <a:srgbClr val="123C43"/>
                    </a:solidFill>
                  </a:tcPr>
                </a:tc>
                <a:extLst>
                  <a:ext uri="{0D108BD9-81ED-4DB2-BD59-A6C34878D82A}">
                    <a16:rowId xmlns:a16="http://schemas.microsoft.com/office/drawing/2014/main" val="10000"/>
                  </a:ext>
                </a:extLst>
              </a:tr>
              <a:tr h="555171">
                <a:tc>
                  <a:txBody>
                    <a:bodyPr/>
                    <a:lstStyle/>
                    <a:p>
                      <a:r>
                        <a:rPr sz="1800" b="0">
                          <a:solidFill>
                            <a:srgbClr val="17313A"/>
                          </a:solidFill>
                          <a:latin typeface="Arial"/>
                          <a:ea typeface="Arial"/>
                          <a:cs typeface="Arial"/>
                        </a:rPr>
                        <a:t>1–5</a:t>
                      </a:r>
                    </a:p>
                  </a:txBody>
                  <a:tcPr>
                    <a:solidFill>
                      <a:srgbClr val="FFFFFF"/>
                    </a:solidFill>
                  </a:tcPr>
                </a:tc>
                <a:tc>
                  <a:txBody>
                    <a:bodyPr/>
                    <a:lstStyle/>
                    <a:p>
                      <a:r>
                        <a:rPr sz="1800" b="0">
                          <a:solidFill>
                            <a:srgbClr val="17313A"/>
                          </a:solidFill>
                          <a:latin typeface="Arial"/>
                          <a:ea typeface="Arial"/>
                          <a:cs typeface="Arial"/>
                        </a:rPr>
                        <a:t>Data containment and routing stubs</a:t>
                      </a:r>
                    </a:p>
                  </a:txBody>
                  <a:tcPr>
                    <a:solidFill>
                      <a:srgbClr val="FFFFFF"/>
                    </a:solidFill>
                  </a:tcPr>
                </a:tc>
                <a:tc>
                  <a:txBody>
                    <a:bodyPr/>
                    <a:lstStyle/>
                    <a:p>
                      <a:r>
                        <a:rPr sz="1800" b="0">
                          <a:solidFill>
                            <a:srgbClr val="17313A"/>
                          </a:solidFill>
                          <a:latin typeface="Arial"/>
                          <a:ea typeface="Arial"/>
                          <a:cs typeface="Arial"/>
                        </a:rPr>
                        <a:t>README.md</a:t>
                      </a:r>
                    </a:p>
                  </a:txBody>
                  <a:tcPr>
                    <a:solidFill>
                      <a:srgbClr val="FFFFFF"/>
                    </a:solidFill>
                  </a:tcPr>
                </a:tc>
                <a:extLst>
                  <a:ext uri="{0D108BD9-81ED-4DB2-BD59-A6C34878D82A}">
                    <a16:rowId xmlns:a16="http://schemas.microsoft.com/office/drawing/2014/main" val="10001"/>
                  </a:ext>
                </a:extLst>
              </a:tr>
              <a:tr h="555171">
                <a:tc>
                  <a:txBody>
                    <a:bodyPr/>
                    <a:lstStyle/>
                    <a:p>
                      <a:r>
                        <a:rPr sz="1800" b="0">
                          <a:solidFill>
                            <a:srgbClr val="17313A"/>
                          </a:solidFill>
                          <a:latin typeface="Arial"/>
                          <a:ea typeface="Arial"/>
                          <a:cs typeface="Arial"/>
                        </a:rPr>
                        <a:t>6</a:t>
                      </a:r>
                    </a:p>
                  </a:txBody>
                  <a:tcPr>
                    <a:solidFill>
                      <a:srgbClr val="F4F8F7"/>
                    </a:solidFill>
                  </a:tcPr>
                </a:tc>
                <a:tc>
                  <a:txBody>
                    <a:bodyPr/>
                    <a:lstStyle/>
                    <a:p>
                      <a:r>
                        <a:rPr sz="1800" b="0">
                          <a:solidFill>
                            <a:srgbClr val="17313A"/>
                          </a:solidFill>
                          <a:latin typeface="Arial"/>
                          <a:ea typeface="Arial"/>
                          <a:cs typeface="Arial"/>
                        </a:rPr>
                        <a:t>API endpoint routing</a:t>
                      </a:r>
                    </a:p>
                  </a:txBody>
                  <a:tcPr>
                    <a:solidFill>
                      <a:srgbClr val="F4F8F7"/>
                    </a:solidFill>
                  </a:tcPr>
                </a:tc>
                <a:tc>
                  <a:txBody>
                    <a:bodyPr/>
                    <a:lstStyle/>
                    <a:p>
                      <a:r>
                        <a:rPr sz="1800" b="0">
                          <a:solidFill>
                            <a:srgbClr val="17313A"/>
                          </a:solidFill>
                          <a:latin typeface="Arial"/>
                          <a:ea typeface="Arial"/>
                          <a:cs typeface="Arial"/>
                        </a:rPr>
                        <a:t>main_pipeline.py</a:t>
                      </a:r>
                    </a:p>
                  </a:txBody>
                  <a:tcPr>
                    <a:solidFill>
                      <a:srgbClr val="F4F8F7"/>
                    </a:solidFill>
                  </a:tcPr>
                </a:tc>
                <a:extLst>
                  <a:ext uri="{0D108BD9-81ED-4DB2-BD59-A6C34878D82A}">
                    <a16:rowId xmlns:a16="http://schemas.microsoft.com/office/drawing/2014/main" val="10002"/>
                  </a:ext>
                </a:extLst>
              </a:tr>
              <a:tr h="555171">
                <a:tc>
                  <a:txBody>
                    <a:bodyPr/>
                    <a:lstStyle/>
                    <a:p>
                      <a:r>
                        <a:rPr sz="1800" b="0">
                          <a:solidFill>
                            <a:srgbClr val="17313A"/>
                          </a:solidFill>
                          <a:latin typeface="Arial"/>
                          <a:ea typeface="Arial"/>
                          <a:cs typeface="Arial"/>
                        </a:rPr>
                        <a:t>7</a:t>
                      </a:r>
                    </a:p>
                  </a:txBody>
                  <a:tcPr>
                    <a:solidFill>
                      <a:srgbClr val="FFFFFF"/>
                    </a:solidFill>
                  </a:tcPr>
                </a:tc>
                <a:tc>
                  <a:txBody>
                    <a:bodyPr/>
                    <a:lstStyle/>
                    <a:p>
                      <a:r>
                        <a:rPr sz="1800" b="0">
                          <a:solidFill>
                            <a:srgbClr val="17313A"/>
                          </a:solidFill>
                          <a:latin typeface="Arial"/>
                          <a:ea typeface="Arial"/>
                          <a:cs typeface="Arial"/>
                        </a:rPr>
                        <a:t>FinOps cost optimization</a:t>
                      </a:r>
                    </a:p>
                  </a:txBody>
                  <a:tcPr>
                    <a:solidFill>
                      <a:srgbClr val="FFFFFF"/>
                    </a:solidFill>
                  </a:tcPr>
                </a:tc>
                <a:tc>
                  <a:txBody>
                    <a:bodyPr/>
                    <a:lstStyle/>
                    <a:p>
                      <a:r>
                        <a:rPr sz="1800" b="0">
                          <a:solidFill>
                            <a:srgbClr val="17313A"/>
                          </a:solidFill>
                          <a:latin typeface="Arial"/>
                          <a:ea typeface="Arial"/>
                          <a:cs typeface="Arial"/>
                        </a:rPr>
                        <a:t>docs/cost_analysis.md</a:t>
                      </a:r>
                    </a:p>
                  </a:txBody>
                  <a:tcPr>
                    <a:solidFill>
                      <a:srgbClr val="FFFFFF"/>
                    </a:solidFill>
                  </a:tcPr>
                </a:tc>
                <a:extLst>
                  <a:ext uri="{0D108BD9-81ED-4DB2-BD59-A6C34878D82A}">
                    <a16:rowId xmlns:a16="http://schemas.microsoft.com/office/drawing/2014/main" val="10003"/>
                  </a:ext>
                </a:extLst>
              </a:tr>
              <a:tr h="555171">
                <a:tc>
                  <a:txBody>
                    <a:bodyPr/>
                    <a:lstStyle/>
                    <a:p>
                      <a:r>
                        <a:rPr sz="1800" b="0">
                          <a:solidFill>
                            <a:srgbClr val="17313A"/>
                          </a:solidFill>
                          <a:latin typeface="Arial"/>
                          <a:ea typeface="Arial"/>
                          <a:cs typeface="Arial"/>
                        </a:rPr>
                        <a:t>8</a:t>
                      </a:r>
                    </a:p>
                  </a:txBody>
                  <a:tcPr>
                    <a:solidFill>
                      <a:srgbClr val="F4F8F7"/>
                    </a:solidFill>
                  </a:tcPr>
                </a:tc>
                <a:tc>
                  <a:txBody>
                    <a:bodyPr/>
                    <a:lstStyle/>
                    <a:p>
                      <a:r>
                        <a:rPr sz="1800" b="0">
                          <a:solidFill>
                            <a:srgbClr val="17313A"/>
                          </a:solidFill>
                          <a:latin typeface="Arial"/>
                          <a:ea typeface="Arial"/>
                          <a:cs typeface="Arial"/>
                        </a:rPr>
                        <a:t>Model signature version pins</a:t>
                      </a:r>
                    </a:p>
                  </a:txBody>
                  <a:tcPr>
                    <a:solidFill>
                      <a:srgbClr val="F4F8F7"/>
                    </a:solidFill>
                  </a:tcPr>
                </a:tc>
                <a:tc>
                  <a:txBody>
                    <a:bodyPr/>
                    <a:lstStyle/>
                    <a:p>
                      <a:r>
                        <a:rPr sz="1800" b="0">
                          <a:solidFill>
                            <a:srgbClr val="17313A"/>
                          </a:solidFill>
                          <a:latin typeface="Arial"/>
                          <a:ea typeface="Arial"/>
                          <a:cs typeface="Arial"/>
                        </a:rPr>
                        <a:t>integration_map.json</a:t>
                      </a:r>
                    </a:p>
                  </a:txBody>
                  <a:tcPr>
                    <a:solidFill>
                      <a:srgbClr val="F4F8F7"/>
                    </a:solidFill>
                  </a:tcPr>
                </a:tc>
                <a:extLst>
                  <a:ext uri="{0D108BD9-81ED-4DB2-BD59-A6C34878D82A}">
                    <a16:rowId xmlns:a16="http://schemas.microsoft.com/office/drawing/2014/main" val="10004"/>
                  </a:ext>
                </a:extLst>
              </a:tr>
              <a:tr h="555171">
                <a:tc>
                  <a:txBody>
                    <a:bodyPr/>
                    <a:lstStyle/>
                    <a:p>
                      <a:r>
                        <a:rPr sz="1800" b="0">
                          <a:solidFill>
                            <a:srgbClr val="17313A"/>
                          </a:solidFill>
                          <a:latin typeface="Arial"/>
                          <a:ea typeface="Arial"/>
                          <a:cs typeface="Arial"/>
                        </a:rPr>
                        <a:t>9</a:t>
                      </a:r>
                    </a:p>
                  </a:txBody>
                  <a:tcPr>
                    <a:solidFill>
                      <a:srgbClr val="FFFFFF"/>
                    </a:solidFill>
                  </a:tcPr>
                </a:tc>
                <a:tc>
                  <a:txBody>
                    <a:bodyPr/>
                    <a:lstStyle/>
                    <a:p>
                      <a:r>
                        <a:rPr sz="1800" b="0">
                          <a:solidFill>
                            <a:srgbClr val="17313A"/>
                          </a:solidFill>
                          <a:latin typeface="Arial"/>
                          <a:ea typeface="Arial"/>
                          <a:cs typeface="Arial"/>
                        </a:rPr>
                        <a:t>Log masking smoke checks</a:t>
                      </a:r>
                    </a:p>
                  </a:txBody>
                  <a:tcPr>
                    <a:solidFill>
                      <a:srgbClr val="FFFFFF"/>
                    </a:solidFill>
                  </a:tcPr>
                </a:tc>
                <a:tc>
                  <a:txBody>
                    <a:bodyPr/>
                    <a:lstStyle/>
                    <a:p>
                      <a:r>
                        <a:rPr sz="1800" b="0">
                          <a:solidFill>
                            <a:srgbClr val="17313A"/>
                          </a:solidFill>
                          <a:latin typeface="Arial"/>
                          <a:ea typeface="Arial"/>
                          <a:cs typeface="Arial"/>
                        </a:rPr>
                        <a:t>tests/test_security_smoke.py</a:t>
                      </a:r>
                    </a:p>
                  </a:txBody>
                  <a:tcPr>
                    <a:solidFill>
                      <a:srgbClr val="FFFFFF"/>
                    </a:solidFill>
                  </a:tcPr>
                </a:tc>
                <a:extLst>
                  <a:ext uri="{0D108BD9-81ED-4DB2-BD59-A6C34878D82A}">
                    <a16:rowId xmlns:a16="http://schemas.microsoft.com/office/drawing/2014/main" val="10005"/>
                  </a:ext>
                </a:extLst>
              </a:tr>
              <a:tr h="555171">
                <a:tc>
                  <a:txBody>
                    <a:bodyPr/>
                    <a:lstStyle/>
                    <a:p>
                      <a:r>
                        <a:rPr sz="1800" b="0">
                          <a:solidFill>
                            <a:srgbClr val="17313A"/>
                          </a:solidFill>
                          <a:latin typeface="Arial"/>
                          <a:ea typeface="Arial"/>
                          <a:cs typeface="Arial"/>
                        </a:rPr>
                        <a:t>10</a:t>
                      </a:r>
                    </a:p>
                  </a:txBody>
                  <a:tcPr>
                    <a:solidFill>
                      <a:srgbClr val="F4F8F7"/>
                    </a:solidFill>
                  </a:tcPr>
                </a:tc>
                <a:tc>
                  <a:txBody>
                    <a:bodyPr/>
                    <a:lstStyle/>
                    <a:p>
                      <a:r>
                        <a:rPr sz="1800" b="0">
                          <a:solidFill>
                            <a:srgbClr val="17313A"/>
                          </a:solidFill>
                          <a:latin typeface="Arial"/>
                          <a:ea typeface="Arial"/>
                          <a:cs typeface="Arial"/>
                        </a:rPr>
                        <a:t>Operational data-transfer policies</a:t>
                      </a:r>
                    </a:p>
                  </a:txBody>
                  <a:tcPr>
                    <a:solidFill>
                      <a:srgbClr val="F4F8F7"/>
                    </a:solidFill>
                  </a:tcPr>
                </a:tc>
                <a:tc>
                  <a:txBody>
                    <a:bodyPr/>
                    <a:lstStyle/>
                    <a:p>
                      <a:r>
                        <a:rPr sz="1800" b="0">
                          <a:solidFill>
                            <a:srgbClr val="17313A"/>
                          </a:solidFill>
                          <a:latin typeface="Arial"/>
                          <a:ea typeface="Arial"/>
                          <a:cs typeface="Arial"/>
                        </a:rPr>
                        <a:t>fixtures/README.md</a:t>
                      </a:r>
                    </a:p>
                  </a:txBody>
                  <a:tcPr>
                    <a:solidFill>
                      <a:srgbClr val="F4F8F7"/>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5414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B7C5174-8127-45E2-8BEC-E7B55F491BD8}"/>
              </a:ext>
            </a:extLst>
          </p:cNvPr>
          <p:cNvSpPr>
            <a:spLocks noGrp="1"/>
          </p:cNvSpPr>
          <p:nvPr/>
        </p:nvSpPr>
        <p:spPr>
          <a:xfrm>
            <a:off x="533400" y="247650"/>
            <a:ext cx="3810000" cy="228600"/>
          </a:xfrm>
          <a:prstGeom prst="rect">
            <a:avLst/>
          </a:prstGeom>
          <a:noFill/>
          <a:ln w="0">
            <a:noFill/>
          </a:ln>
        </p:spPr>
        <p:txBody>
          <a:bodyPr anchor="t">
            <a:noAutofit/>
          </a:bodyPr>
          <a:lstStyle/>
          <a:p>
            <a:pPr>
              <a:defRPr sz="1200" b="1">
                <a:solidFill>
                  <a:srgbClr val="087E83"/>
                </a:solidFill>
                <a:latin typeface="Arial"/>
                <a:ea typeface="Arial"/>
                <a:cs typeface="Arial"/>
              </a:defRPr>
            </a:pPr>
            <a:r>
              <a:rPr sz="1200" b="1">
                <a:solidFill>
                  <a:srgbClr val="087E83"/>
                </a:solidFill>
                <a:latin typeface="Arial"/>
                <a:ea typeface="Arial"/>
                <a:cs typeface="Arial"/>
              </a:rPr>
              <a:t>AFYAPLUS AI</a:t>
            </a:r>
          </a:p>
        </p:txBody>
      </p:sp>
      <p:sp>
        <p:nvSpPr>
          <p:cNvPr id="2" name="Rectangle 1">
            <a:extLst>
              <a:ext uri="{FF2B5EF4-FFF2-40B4-BE49-F238E27FC236}">
                <a16:creationId xmlns:a16="http://schemas.microsoft.com/office/drawing/2014/main" id="{A5643204-BBAB-4171-877B-19FDBB50F44B}"/>
              </a:ext>
            </a:extLst>
          </p:cNvPr>
          <p:cNvSpPr>
            <a:spLocks noGrp="1"/>
          </p:cNvSpPr>
          <p:nvPr/>
        </p:nvSpPr>
        <p:spPr>
          <a:xfrm>
            <a:off x="11068050" y="247650"/>
            <a:ext cx="590550" cy="228600"/>
          </a:xfrm>
          <a:prstGeom prst="rect">
            <a:avLst/>
          </a:prstGeom>
          <a:noFill/>
          <a:ln w="0">
            <a:noFill/>
          </a:ln>
        </p:spPr>
        <p:txBody>
          <a:bodyPr anchor="t">
            <a:noAutofit/>
          </a:bodyPr>
          <a:lstStyle/>
          <a:p>
            <a:pPr>
              <a:defRPr sz="1200" b="1">
                <a:solidFill>
                  <a:srgbClr val="087E83"/>
                </a:solidFill>
                <a:latin typeface="Arial"/>
                <a:ea typeface="Arial"/>
                <a:cs typeface="Arial"/>
              </a:defRPr>
            </a:pPr>
            <a:r>
              <a:rPr sz="1200" b="1">
                <a:solidFill>
                  <a:srgbClr val="087E83"/>
                </a:solidFill>
                <a:latin typeface="Arial"/>
                <a:ea typeface="Arial"/>
                <a:cs typeface="Arial"/>
              </a:rPr>
              <a:t>05</a:t>
            </a:r>
          </a:p>
        </p:txBody>
      </p:sp>
      <p:sp>
        <p:nvSpPr>
          <p:cNvPr id="3" name="Rectangle 2">
            <a:extLst>
              <a:ext uri="{FF2B5EF4-FFF2-40B4-BE49-F238E27FC236}">
                <a16:creationId xmlns:a16="http://schemas.microsoft.com/office/drawing/2014/main" id="{415A0F12-DE05-4E24-8D80-D4D49CBDCF6F}"/>
              </a:ext>
            </a:extLst>
          </p:cNvPr>
          <p:cNvSpPr>
            <a:spLocks noGrp="1"/>
          </p:cNvSpPr>
          <p:nvPr/>
        </p:nvSpPr>
        <p:spPr>
          <a:xfrm>
            <a:off x="533400" y="714375"/>
            <a:ext cx="11125200" cy="666750"/>
          </a:xfrm>
          <a:prstGeom prst="rect">
            <a:avLst/>
          </a:prstGeom>
          <a:noFill/>
          <a:ln w="0">
            <a:noFill/>
          </a:ln>
        </p:spPr>
        <p:txBody>
          <a:bodyPr anchor="t">
            <a:noAutofit/>
          </a:bodyPr>
          <a:lstStyle/>
          <a:p>
            <a:pPr>
              <a:defRPr sz="3300" b="1">
                <a:solidFill>
                  <a:srgbClr val="17313A"/>
                </a:solidFill>
                <a:latin typeface="Arial"/>
                <a:ea typeface="Arial"/>
                <a:cs typeface="Arial"/>
              </a:defRPr>
            </a:pPr>
            <a:r>
              <a:rPr sz="3300" b="1">
                <a:solidFill>
                  <a:srgbClr val="17313A"/>
                </a:solidFill>
                <a:latin typeface="Arial"/>
                <a:ea typeface="Arial"/>
                <a:cs typeface="Arial"/>
              </a:rPr>
              <a:t>Live application demo</a:t>
            </a:r>
          </a:p>
        </p:txBody>
      </p:sp>
      <p:sp>
        <p:nvSpPr>
          <p:cNvPr id="4" name="Rectangle 3">
            <a:extLst>
              <a:ext uri="{FF2B5EF4-FFF2-40B4-BE49-F238E27FC236}">
                <a16:creationId xmlns:a16="http://schemas.microsoft.com/office/drawing/2014/main" id="{44DD370B-73DE-4557-AE08-BF05A05A7FF1}"/>
              </a:ext>
            </a:extLst>
          </p:cNvPr>
          <p:cNvSpPr>
            <a:spLocks noGrp="1"/>
          </p:cNvSpPr>
          <p:nvPr/>
        </p:nvSpPr>
        <p:spPr>
          <a:xfrm>
            <a:off x="533400" y="1381125"/>
            <a:ext cx="11125200" cy="514350"/>
          </a:xfrm>
          <a:prstGeom prst="rect">
            <a:avLst/>
          </a:prstGeom>
          <a:noFill/>
          <a:ln w="0">
            <a:noFill/>
          </a:ln>
        </p:spPr>
        <p:txBody>
          <a:bodyPr anchor="t">
            <a:noAutofit/>
          </a:bodyPr>
          <a:lstStyle/>
          <a:p>
            <a:pPr>
              <a:defRPr sz="1725" b="0">
                <a:solidFill>
                  <a:srgbClr val="536A70"/>
                </a:solidFill>
                <a:latin typeface="Arial"/>
                <a:ea typeface="Arial"/>
                <a:cs typeface="Arial"/>
              </a:defRPr>
            </a:pPr>
            <a:r>
              <a:rPr sz="1725" b="0">
                <a:solidFill>
                  <a:srgbClr val="536A70"/>
                </a:solidFill>
                <a:latin typeface="Arial"/>
                <a:ea typeface="Arial"/>
                <a:cs typeface="Arial"/>
              </a:rPr>
              <a:t>Two-stage presenter runbook. The triage route still needs confirmation.</a:t>
            </a:r>
          </a:p>
        </p:txBody>
      </p:sp>
      <p:sp>
        <p:nvSpPr>
          <p:cNvPr id="5" name="Rectangle 4">
            <a:extLst>
              <a:ext uri="{FF2B5EF4-FFF2-40B4-BE49-F238E27FC236}">
                <a16:creationId xmlns:a16="http://schemas.microsoft.com/office/drawing/2014/main" id="{C3B5479D-030C-4CCA-87FA-01387B6348BF}"/>
              </a:ext>
            </a:extLst>
          </p:cNvPr>
          <p:cNvSpPr>
            <a:spLocks noGrp="1"/>
          </p:cNvSpPr>
          <p:nvPr/>
        </p:nvSpPr>
        <p:spPr>
          <a:xfrm>
            <a:off x="533400" y="6334125"/>
            <a:ext cx="11125200" cy="19050"/>
          </a:xfrm>
          <a:prstGeom prst="rect">
            <a:avLst/>
          </a:prstGeom>
          <a:solidFill>
            <a:srgbClr val="CCDCDA"/>
          </a:solidFill>
          <a:ln w="0">
            <a:noFill/>
          </a:ln>
        </p:spPr>
        <p:txBody>
          <a:bodyPr/>
          <a:lstStyle/>
          <a:p>
            <a:endParaRPr lang="en-US"/>
          </a:p>
        </p:txBody>
      </p:sp>
      <p:sp>
        <p:nvSpPr>
          <p:cNvPr id="6" name="Rectangle 5">
            <a:extLst>
              <a:ext uri="{FF2B5EF4-FFF2-40B4-BE49-F238E27FC236}">
                <a16:creationId xmlns:a16="http://schemas.microsoft.com/office/drawing/2014/main" id="{FE7CE0EE-3172-4542-A91D-414F2183F1A4}"/>
              </a:ext>
            </a:extLst>
          </p:cNvPr>
          <p:cNvSpPr>
            <a:spLocks noGrp="1"/>
          </p:cNvSpPr>
          <p:nvPr/>
        </p:nvSpPr>
        <p:spPr>
          <a:xfrm>
            <a:off x="533400" y="6457950"/>
            <a:ext cx="8572500" cy="200025"/>
          </a:xfrm>
          <a:prstGeom prst="rect">
            <a:avLst/>
          </a:prstGeom>
          <a:noFill/>
          <a:ln w="0">
            <a:noFill/>
          </a:ln>
        </p:spPr>
        <p:txBody>
          <a:bodyPr anchor="t">
            <a:noAutofit/>
          </a:bodyPr>
          <a:lstStyle/>
          <a:p>
            <a:pPr>
              <a:defRPr sz="1125" b="0">
                <a:solidFill>
                  <a:srgbClr val="536A70"/>
                </a:solidFill>
                <a:latin typeface="Arial"/>
                <a:ea typeface="Arial"/>
                <a:cs typeface="Arial"/>
              </a:defRPr>
            </a:pPr>
            <a:r>
              <a:rPr sz="1125" b="0">
                <a:solidFill>
                  <a:srgbClr val="536A70"/>
                </a:solidFill>
                <a:latin typeface="Arial"/>
                <a:ea typeface="Arial"/>
                <a:cs typeface="Arial"/>
              </a:rPr>
              <a:t>Integrated capstone</a:t>
            </a:r>
          </a:p>
        </p:txBody>
      </p:sp>
      <p:sp>
        <p:nvSpPr>
          <p:cNvPr id="7" name="Rectangle 6">
            <a:extLst>
              <a:ext uri="{FF2B5EF4-FFF2-40B4-BE49-F238E27FC236}">
                <a16:creationId xmlns:a16="http://schemas.microsoft.com/office/drawing/2014/main" id="{9D2116DC-B2B2-4EDB-8EC7-64DBF385F59D}"/>
              </a:ext>
            </a:extLst>
          </p:cNvPr>
          <p:cNvSpPr>
            <a:spLocks noGrp="1"/>
          </p:cNvSpPr>
          <p:nvPr/>
        </p:nvSpPr>
        <p:spPr>
          <a:xfrm>
            <a:off x="533400" y="2000250"/>
            <a:ext cx="8096250" cy="381000"/>
          </a:xfrm>
          <a:prstGeom prst="rect">
            <a:avLst/>
          </a:prstGeom>
          <a:noFill/>
          <a:ln w="0">
            <a:noFill/>
          </a:ln>
        </p:spPr>
        <p:txBody>
          <a:bodyPr anchor="t">
            <a:noAutofit/>
          </a:bodyPr>
          <a:lstStyle/>
          <a:p>
            <a:pPr>
              <a:defRPr sz="2100" b="1">
                <a:solidFill>
                  <a:srgbClr val="087E83"/>
                </a:solidFill>
                <a:latin typeface="Arial"/>
                <a:ea typeface="Arial"/>
                <a:cs typeface="Arial"/>
              </a:defRPr>
            </a:pPr>
            <a:r>
              <a:rPr sz="2100" b="1">
                <a:solidFill>
                  <a:srgbClr val="087E83"/>
                </a:solidFill>
                <a:latin typeface="Arial"/>
                <a:ea typeface="Arial"/>
                <a:cs typeface="Arial"/>
              </a:rPr>
              <a:t>1  Start the local service</a:t>
            </a:r>
          </a:p>
        </p:txBody>
      </p:sp>
      <p:sp>
        <p:nvSpPr>
          <p:cNvPr id="8" name="Rectangle 7">
            <a:extLst>
              <a:ext uri="{FF2B5EF4-FFF2-40B4-BE49-F238E27FC236}">
                <a16:creationId xmlns:a16="http://schemas.microsoft.com/office/drawing/2014/main" id="{6FE09344-D5B2-4E87-8565-39A520903D4B}"/>
              </a:ext>
            </a:extLst>
          </p:cNvPr>
          <p:cNvSpPr>
            <a:spLocks noGrp="1"/>
          </p:cNvSpPr>
          <p:nvPr/>
        </p:nvSpPr>
        <p:spPr>
          <a:xfrm>
            <a:off x="533400" y="2495550"/>
            <a:ext cx="8058150" cy="876300"/>
          </a:xfrm>
          <a:prstGeom prst="rect">
            <a:avLst/>
          </a:prstGeom>
          <a:solidFill>
            <a:srgbClr val="123C43"/>
          </a:solidFill>
          <a:ln w="0">
            <a:noFill/>
          </a:ln>
        </p:spPr>
        <p:txBody>
          <a:bodyPr/>
          <a:lstStyle/>
          <a:p>
            <a:endParaRPr lang="en-US"/>
          </a:p>
        </p:txBody>
      </p:sp>
      <p:sp>
        <p:nvSpPr>
          <p:cNvPr id="9" name="Rectangle 8">
            <a:extLst>
              <a:ext uri="{FF2B5EF4-FFF2-40B4-BE49-F238E27FC236}">
                <a16:creationId xmlns:a16="http://schemas.microsoft.com/office/drawing/2014/main" id="{3BB9E4E0-ADDE-4C29-98ED-7C1241D995F5}"/>
              </a:ext>
            </a:extLst>
          </p:cNvPr>
          <p:cNvSpPr>
            <a:spLocks noGrp="1"/>
          </p:cNvSpPr>
          <p:nvPr/>
        </p:nvSpPr>
        <p:spPr>
          <a:xfrm>
            <a:off x="742950" y="2667000"/>
            <a:ext cx="7620000" cy="571500"/>
          </a:xfrm>
          <a:prstGeom prst="rect">
            <a:avLst/>
          </a:prstGeom>
          <a:noFill/>
          <a:ln w="0">
            <a:noFill/>
          </a:ln>
        </p:spPr>
        <p:txBody>
          <a:bodyPr anchor="t">
            <a:noAutofit/>
          </a:bodyPr>
          <a:lstStyle/>
          <a:p>
            <a:pPr>
              <a:defRPr sz="1725" b="0">
                <a:solidFill>
                  <a:srgbClr val="FFFFFF"/>
                </a:solidFill>
                <a:latin typeface="Consolas"/>
                <a:ea typeface="Consolas"/>
                <a:cs typeface="Consolas"/>
              </a:defRPr>
            </a:pPr>
            <a:r>
              <a:rPr sz="1725" b="0">
                <a:solidFill>
                  <a:srgbClr val="FFFFFF"/>
                </a:solidFill>
                <a:latin typeface="Consolas"/>
                <a:ea typeface="Consolas"/>
                <a:cs typeface="Consolas"/>
              </a:rPr>
              <a:t>python -m uvicorn main_pipeline:app \</a:t>
            </a:r>
          </a:p>
          <a:p>
            <a:pPr>
              <a:defRPr sz="1725" b="0">
                <a:solidFill>
                  <a:srgbClr val="FFFFFF"/>
                </a:solidFill>
                <a:latin typeface="Consolas"/>
                <a:ea typeface="Consolas"/>
                <a:cs typeface="Consolas"/>
              </a:defRPr>
            </a:pPr>
            <a:r>
              <a:rPr sz="1725" b="0">
                <a:solidFill>
                  <a:srgbClr val="FFFFFF"/>
                </a:solidFill>
                <a:latin typeface="Consolas"/>
                <a:ea typeface="Consolas"/>
                <a:cs typeface="Consolas"/>
              </a:rPr>
              <a:t>  --host 127.0.0.1 --port 8000</a:t>
            </a:r>
          </a:p>
        </p:txBody>
      </p:sp>
      <p:sp>
        <p:nvSpPr>
          <p:cNvPr id="10" name="Rectangle 9">
            <a:extLst>
              <a:ext uri="{FF2B5EF4-FFF2-40B4-BE49-F238E27FC236}">
                <a16:creationId xmlns:a16="http://schemas.microsoft.com/office/drawing/2014/main" id="{75201DE7-5901-4959-9845-6A94A905FE83}"/>
              </a:ext>
            </a:extLst>
          </p:cNvPr>
          <p:cNvSpPr>
            <a:spLocks noGrp="1"/>
          </p:cNvSpPr>
          <p:nvPr/>
        </p:nvSpPr>
        <p:spPr>
          <a:xfrm>
            <a:off x="533400" y="3629025"/>
            <a:ext cx="8096250" cy="400050"/>
          </a:xfrm>
          <a:prstGeom prst="rect">
            <a:avLst/>
          </a:prstGeom>
          <a:noFill/>
          <a:ln w="0">
            <a:noFill/>
          </a:ln>
        </p:spPr>
        <p:txBody>
          <a:bodyPr anchor="t">
            <a:noAutofit/>
          </a:bodyPr>
          <a:lstStyle/>
          <a:p>
            <a:pPr>
              <a:defRPr sz="2100" b="1">
                <a:solidFill>
                  <a:srgbClr val="087E83"/>
                </a:solidFill>
                <a:latin typeface="Arial"/>
                <a:ea typeface="Arial"/>
                <a:cs typeface="Arial"/>
              </a:defRPr>
            </a:pPr>
            <a:r>
              <a:rPr sz="2100" b="1">
                <a:solidFill>
                  <a:srgbClr val="087E83"/>
                </a:solidFill>
                <a:latin typeface="Arial"/>
                <a:ea typeface="Arial"/>
                <a:cs typeface="Arial"/>
              </a:rPr>
              <a:t>2  Send an authorized request</a:t>
            </a:r>
          </a:p>
        </p:txBody>
      </p:sp>
      <p:sp>
        <p:nvSpPr>
          <p:cNvPr id="11" name="Rectangle 10">
            <a:extLst>
              <a:ext uri="{FF2B5EF4-FFF2-40B4-BE49-F238E27FC236}">
                <a16:creationId xmlns:a16="http://schemas.microsoft.com/office/drawing/2014/main" id="{7C96D9D0-DFE3-4BE2-B442-B83FD5D3F2EF}"/>
              </a:ext>
            </a:extLst>
          </p:cNvPr>
          <p:cNvSpPr>
            <a:spLocks noGrp="1"/>
          </p:cNvSpPr>
          <p:nvPr/>
        </p:nvSpPr>
        <p:spPr>
          <a:xfrm>
            <a:off x="533400" y="4143375"/>
            <a:ext cx="8058150" cy="1571625"/>
          </a:xfrm>
          <a:prstGeom prst="rect">
            <a:avLst/>
          </a:prstGeom>
          <a:solidFill>
            <a:srgbClr val="123C43"/>
          </a:solidFill>
          <a:ln w="0">
            <a:noFill/>
          </a:ln>
        </p:spPr>
        <p:txBody>
          <a:bodyPr/>
          <a:lstStyle/>
          <a:p>
            <a:endParaRPr lang="en-US"/>
          </a:p>
        </p:txBody>
      </p:sp>
      <p:sp>
        <p:nvSpPr>
          <p:cNvPr id="12" name="Rectangle 11">
            <a:extLst>
              <a:ext uri="{FF2B5EF4-FFF2-40B4-BE49-F238E27FC236}">
                <a16:creationId xmlns:a16="http://schemas.microsoft.com/office/drawing/2014/main" id="{41D9E8F5-55DC-4E40-A076-BC0EFFBF918F}"/>
              </a:ext>
            </a:extLst>
          </p:cNvPr>
          <p:cNvSpPr>
            <a:spLocks noGrp="1"/>
          </p:cNvSpPr>
          <p:nvPr/>
        </p:nvSpPr>
        <p:spPr>
          <a:xfrm>
            <a:off x="742950" y="4305300"/>
            <a:ext cx="7648575" cy="1257300"/>
          </a:xfrm>
          <a:prstGeom prst="rect">
            <a:avLst/>
          </a:prstGeom>
          <a:noFill/>
          <a:ln w="0">
            <a:noFill/>
          </a:ln>
        </p:spPr>
        <p:txBody>
          <a:bodyPr anchor="t">
            <a:noAutofit/>
          </a:bodyPr>
          <a:lstStyle/>
          <a:p>
            <a:pPr>
              <a:defRPr sz="1575" b="0">
                <a:solidFill>
                  <a:srgbClr val="FFFFFF"/>
                </a:solidFill>
                <a:latin typeface="Consolas"/>
                <a:ea typeface="Consolas"/>
                <a:cs typeface="Consolas"/>
              </a:defRPr>
            </a:pPr>
            <a:r>
              <a:rPr sz="1575" b="0">
                <a:solidFill>
                  <a:srgbClr val="FFFFFF"/>
                </a:solidFill>
                <a:latin typeface="Consolas"/>
                <a:ea typeface="Consolas"/>
                <a:cs typeface="Consolas"/>
              </a:rPr>
              <a:t>curl -X POST "$TRIAGE_URL" \</a:t>
            </a:r>
          </a:p>
          <a:p>
            <a:pPr>
              <a:defRPr sz="1575" b="0">
                <a:solidFill>
                  <a:srgbClr val="FFFFFF"/>
                </a:solidFill>
                <a:latin typeface="Consolas"/>
                <a:ea typeface="Consolas"/>
                <a:cs typeface="Consolas"/>
              </a:defRPr>
            </a:pPr>
            <a:r>
              <a:rPr sz="1575" b="0">
                <a:solidFill>
                  <a:srgbClr val="FFFFFF"/>
                </a:solidFill>
                <a:latin typeface="Consolas"/>
                <a:ea typeface="Consolas"/>
                <a:cs typeface="Consolas"/>
              </a:rPr>
              <a:t>  -H "Authorization: Bearer test_token" \</a:t>
            </a:r>
          </a:p>
          <a:p>
            <a:pPr>
              <a:defRPr sz="1575" b="0">
                <a:solidFill>
                  <a:srgbClr val="FFFFFF"/>
                </a:solidFill>
                <a:latin typeface="Consolas"/>
                <a:ea typeface="Consolas"/>
                <a:cs typeface="Consolas"/>
              </a:defRPr>
            </a:pPr>
            <a:r>
              <a:rPr sz="1575" b="0">
                <a:solidFill>
                  <a:srgbClr val="FFFFFF"/>
                </a:solidFill>
                <a:latin typeface="Consolas"/>
                <a:ea typeface="Consolas"/>
                <a:cs typeface="Consolas"/>
              </a:rPr>
              <a:t>  -H "Content-Type: application/json" \</a:t>
            </a:r>
          </a:p>
          <a:p>
            <a:pPr>
              <a:defRPr sz="1575" b="0">
                <a:solidFill>
                  <a:srgbClr val="FFFFFF"/>
                </a:solidFill>
                <a:latin typeface="Consolas"/>
                <a:ea typeface="Consolas"/>
                <a:cs typeface="Consolas"/>
              </a:defRPr>
            </a:pPr>
            <a:r>
              <a:rPr sz="1575" b="0">
                <a:solidFill>
                  <a:srgbClr val="FFFFFF"/>
                </a:solidFill>
                <a:latin typeface="Consolas"/>
                <a:ea typeface="Consolas"/>
                <a:cs typeface="Consolas"/>
              </a:rPr>
              <a:t>  -d '{"role":"clinical_officer",</a:t>
            </a:r>
          </a:p>
          <a:p>
            <a:pPr>
              <a:defRPr sz="1575" b="0">
                <a:solidFill>
                  <a:srgbClr val="FFFFFF"/>
                </a:solidFill>
                <a:latin typeface="Consolas"/>
                <a:ea typeface="Consolas"/>
                <a:cs typeface="Consolas"/>
              </a:defRPr>
            </a:pPr>
            <a:r>
              <a:rPr sz="1575" b="0">
                <a:solidFill>
                  <a:srgbClr val="FFFFFF"/>
                </a:solidFill>
                <a:latin typeface="Consolas"/>
                <a:ea typeface="Consolas"/>
                <a:cs typeface="Consolas"/>
              </a:rPr>
              <a:t>       "symptoms":"Patient shows a high fever."}'</a:t>
            </a:r>
          </a:p>
        </p:txBody>
      </p:sp>
      <p:sp>
        <p:nvSpPr>
          <p:cNvPr id="13" name="Rectangle 12">
            <a:extLst>
              <a:ext uri="{FF2B5EF4-FFF2-40B4-BE49-F238E27FC236}">
                <a16:creationId xmlns:a16="http://schemas.microsoft.com/office/drawing/2014/main" id="{B3C9BB0B-2CBC-464A-8925-A39C2F417A58}"/>
              </a:ext>
            </a:extLst>
          </p:cNvPr>
          <p:cNvSpPr>
            <a:spLocks noGrp="1"/>
          </p:cNvSpPr>
          <p:nvPr/>
        </p:nvSpPr>
        <p:spPr>
          <a:xfrm>
            <a:off x="9048750" y="2095500"/>
            <a:ext cx="2571750" cy="333375"/>
          </a:xfrm>
          <a:prstGeom prst="rect">
            <a:avLst/>
          </a:prstGeom>
          <a:noFill/>
          <a:ln w="0">
            <a:noFill/>
          </a:ln>
        </p:spPr>
        <p:txBody>
          <a:bodyPr anchor="t">
            <a:noAutofit/>
          </a:bodyPr>
          <a:lstStyle/>
          <a:p>
            <a:pPr>
              <a:defRPr sz="1425" b="1">
                <a:solidFill>
                  <a:srgbClr val="087E83"/>
                </a:solidFill>
                <a:latin typeface="Arial"/>
                <a:ea typeface="Arial"/>
                <a:cs typeface="Arial"/>
              </a:defRPr>
            </a:pPr>
            <a:r>
              <a:rPr sz="1425" b="1">
                <a:solidFill>
                  <a:srgbClr val="087E83"/>
                </a:solidFill>
                <a:latin typeface="Arial"/>
                <a:ea typeface="Arial"/>
                <a:cs typeface="Arial"/>
              </a:rPr>
              <a:t>DEMO CHECKS</a:t>
            </a:r>
          </a:p>
        </p:txBody>
      </p:sp>
      <p:sp>
        <p:nvSpPr>
          <p:cNvPr id="14" name="Rectangle 13">
            <a:extLst>
              <a:ext uri="{FF2B5EF4-FFF2-40B4-BE49-F238E27FC236}">
                <a16:creationId xmlns:a16="http://schemas.microsoft.com/office/drawing/2014/main" id="{147E741A-846A-418C-8F7B-F34A6F6EC335}"/>
              </a:ext>
            </a:extLst>
          </p:cNvPr>
          <p:cNvSpPr>
            <a:spLocks noGrp="1"/>
          </p:cNvSpPr>
          <p:nvPr/>
        </p:nvSpPr>
        <p:spPr>
          <a:xfrm>
            <a:off x="9048750" y="2628900"/>
            <a:ext cx="2619375" cy="352425"/>
          </a:xfrm>
          <a:prstGeom prst="rect">
            <a:avLst/>
          </a:prstGeom>
          <a:noFill/>
          <a:ln w="0">
            <a:noFill/>
          </a:ln>
        </p:spPr>
        <p:txBody>
          <a:bodyPr anchor="t">
            <a:noAutofit/>
          </a:bodyPr>
          <a:lstStyle/>
          <a:p>
            <a:pPr>
              <a:defRPr sz="1875" b="1">
                <a:solidFill>
                  <a:srgbClr val="17313A"/>
                </a:solidFill>
                <a:latin typeface="Arial"/>
                <a:ea typeface="Arial"/>
                <a:cs typeface="Arial"/>
              </a:defRPr>
            </a:pPr>
            <a:r>
              <a:rPr sz="1875" b="1">
                <a:solidFill>
                  <a:srgbClr val="17313A"/>
                </a:solidFill>
                <a:latin typeface="Arial"/>
                <a:ea typeface="Arial"/>
                <a:cs typeface="Arial"/>
              </a:rPr>
              <a:t>Authorized input</a:t>
            </a:r>
          </a:p>
        </p:txBody>
      </p:sp>
      <p:sp>
        <p:nvSpPr>
          <p:cNvPr id="15" name="Rectangle 14">
            <a:extLst>
              <a:ext uri="{FF2B5EF4-FFF2-40B4-BE49-F238E27FC236}">
                <a16:creationId xmlns:a16="http://schemas.microsoft.com/office/drawing/2014/main" id="{BF429544-52B9-4FAA-A41E-1561CC9F9806}"/>
              </a:ext>
            </a:extLst>
          </p:cNvPr>
          <p:cNvSpPr>
            <a:spLocks noGrp="1"/>
          </p:cNvSpPr>
          <p:nvPr/>
        </p:nvSpPr>
        <p:spPr>
          <a:xfrm>
            <a:off x="9048750" y="3028950"/>
            <a:ext cx="2571750" cy="714375"/>
          </a:xfrm>
          <a:prstGeom prst="rect">
            <a:avLst/>
          </a:prstGeom>
          <a:noFill/>
          <a:ln w="0">
            <a:noFill/>
          </a:ln>
        </p:spPr>
        <p:txBody>
          <a:bodyPr anchor="t">
            <a:noAutofit/>
          </a:bodyPr>
          <a:lstStyle/>
          <a:p>
            <a:pPr>
              <a:defRPr sz="1800" b="0">
                <a:solidFill>
                  <a:srgbClr val="536A70"/>
                </a:solidFill>
                <a:latin typeface="Arial"/>
                <a:ea typeface="Arial"/>
                <a:cs typeface="Arial"/>
              </a:defRPr>
            </a:pPr>
            <a:r>
              <a:rPr sz="1800" b="0">
                <a:solidFill>
                  <a:srgbClr val="536A70"/>
                </a:solidFill>
                <a:latin typeface="Arial"/>
                <a:ea typeface="Arial"/>
                <a:cs typeface="Arial"/>
              </a:rPr>
              <a:t>Inspect the triage</a:t>
            </a:r>
          </a:p>
          <a:p>
            <a:pPr>
              <a:defRPr sz="1800" b="0">
                <a:solidFill>
                  <a:srgbClr val="536A70"/>
                </a:solidFill>
                <a:latin typeface="Arial"/>
                <a:ea typeface="Arial"/>
                <a:cs typeface="Arial"/>
              </a:defRPr>
            </a:pPr>
            <a:r>
              <a:rPr sz="1800" b="0">
                <a:solidFill>
                  <a:srgbClr val="536A70"/>
                </a:solidFill>
                <a:latin typeface="Arial"/>
                <a:ea typeface="Arial"/>
                <a:cs typeface="Arial"/>
              </a:rPr>
              <a:t>response.</a:t>
            </a:r>
          </a:p>
        </p:txBody>
      </p:sp>
      <p:sp>
        <p:nvSpPr>
          <p:cNvPr id="16" name="Rectangle 15">
            <a:extLst>
              <a:ext uri="{FF2B5EF4-FFF2-40B4-BE49-F238E27FC236}">
                <a16:creationId xmlns:a16="http://schemas.microsoft.com/office/drawing/2014/main" id="{8E107BAC-B036-412A-B7E7-E2EB9AA6CE14}"/>
              </a:ext>
            </a:extLst>
          </p:cNvPr>
          <p:cNvSpPr>
            <a:spLocks noGrp="1"/>
          </p:cNvSpPr>
          <p:nvPr/>
        </p:nvSpPr>
        <p:spPr>
          <a:xfrm>
            <a:off x="9048750" y="4095750"/>
            <a:ext cx="2619375" cy="371475"/>
          </a:xfrm>
          <a:prstGeom prst="rect">
            <a:avLst/>
          </a:prstGeom>
          <a:noFill/>
          <a:ln w="0">
            <a:noFill/>
          </a:ln>
        </p:spPr>
        <p:txBody>
          <a:bodyPr anchor="t">
            <a:noAutofit/>
          </a:bodyPr>
          <a:lstStyle/>
          <a:p>
            <a:pPr>
              <a:defRPr sz="1875" b="1">
                <a:solidFill>
                  <a:srgbClr val="17313A"/>
                </a:solidFill>
                <a:latin typeface="Arial"/>
                <a:ea typeface="Arial"/>
                <a:cs typeface="Arial"/>
              </a:defRPr>
            </a:pPr>
            <a:r>
              <a:rPr sz="1875" b="1">
                <a:solidFill>
                  <a:srgbClr val="17313A"/>
                </a:solidFill>
                <a:latin typeface="Arial"/>
                <a:ea typeface="Arial"/>
                <a:cs typeface="Arial"/>
              </a:rPr>
              <a:t>Injection fixture</a:t>
            </a:r>
          </a:p>
        </p:txBody>
      </p:sp>
      <p:sp>
        <p:nvSpPr>
          <p:cNvPr id="17" name="Rectangle 16">
            <a:extLst>
              <a:ext uri="{FF2B5EF4-FFF2-40B4-BE49-F238E27FC236}">
                <a16:creationId xmlns:a16="http://schemas.microsoft.com/office/drawing/2014/main" id="{A87EA6E7-94AA-4318-8E66-68D0957AA359}"/>
              </a:ext>
            </a:extLst>
          </p:cNvPr>
          <p:cNvSpPr>
            <a:spLocks noGrp="1"/>
          </p:cNvSpPr>
          <p:nvPr/>
        </p:nvSpPr>
        <p:spPr>
          <a:xfrm>
            <a:off x="9048750" y="4562475"/>
            <a:ext cx="2619375" cy="1038225"/>
          </a:xfrm>
          <a:prstGeom prst="rect">
            <a:avLst/>
          </a:prstGeom>
          <a:noFill/>
          <a:ln w="0">
            <a:noFill/>
          </a:ln>
        </p:spPr>
        <p:txBody>
          <a:bodyPr anchor="t">
            <a:noAutofit/>
          </a:bodyPr>
          <a:lstStyle/>
          <a:p>
            <a:pPr>
              <a:defRPr sz="1800" b="0">
                <a:solidFill>
                  <a:srgbClr val="9A5B19"/>
                </a:solidFill>
                <a:latin typeface="Arial"/>
                <a:ea typeface="Arial"/>
                <a:cs typeface="Arial"/>
              </a:defRPr>
            </a:pPr>
            <a:r>
              <a:rPr sz="1800" b="0">
                <a:solidFill>
                  <a:srgbClr val="9A5B19"/>
                </a:solidFill>
                <a:latin typeface="Arial"/>
                <a:ea typeface="Arial"/>
                <a:cs typeface="Arial"/>
              </a:rPr>
              <a:t>Expected HTTP 400</a:t>
            </a:r>
          </a:p>
          <a:p>
            <a:pPr>
              <a:defRPr sz="1800" b="0">
                <a:solidFill>
                  <a:srgbClr val="9A5B19"/>
                </a:solidFill>
                <a:latin typeface="Arial"/>
                <a:ea typeface="Arial"/>
                <a:cs typeface="Arial"/>
              </a:defRPr>
            </a:pPr>
            <a:r>
              <a:rPr sz="1800" b="0">
                <a:solidFill>
                  <a:srgbClr val="9A5B19"/>
                </a:solidFill>
                <a:latin typeface="Arial"/>
                <a:ea typeface="Arial"/>
                <a:cs typeface="Arial"/>
              </a:rPr>
              <a:t>Outcome not yet</a:t>
            </a:r>
          </a:p>
          <a:p>
            <a:pPr>
              <a:defRPr sz="1800" b="0">
                <a:solidFill>
                  <a:srgbClr val="9A5B19"/>
                </a:solidFill>
                <a:latin typeface="Arial"/>
                <a:ea typeface="Arial"/>
                <a:cs typeface="Arial"/>
              </a:defRPr>
            </a:pPr>
            <a:r>
              <a:rPr sz="1800" b="0">
                <a:solidFill>
                  <a:srgbClr val="9A5B19"/>
                </a:solidFill>
                <a:latin typeface="Arial"/>
                <a:ea typeface="Arial"/>
                <a:cs typeface="Arial"/>
              </a:rPr>
              <a:t>demonstrated here.</a:t>
            </a:r>
          </a:p>
        </p:txBody>
      </p:sp>
      <p:sp>
        <p:nvSpPr>
          <p:cNvPr id="18" name="Rectangle 17">
            <a:extLst>
              <a:ext uri="{FF2B5EF4-FFF2-40B4-BE49-F238E27FC236}">
                <a16:creationId xmlns:a16="http://schemas.microsoft.com/office/drawing/2014/main" id="{228F148B-8E70-4E57-8E92-D7D4EDA88D08}"/>
              </a:ext>
            </a:extLst>
          </p:cNvPr>
          <p:cNvSpPr>
            <a:spLocks noGrp="1"/>
          </p:cNvSpPr>
          <p:nvPr/>
        </p:nvSpPr>
        <p:spPr>
          <a:xfrm>
            <a:off x="533400" y="5895975"/>
            <a:ext cx="11125200" cy="333375"/>
          </a:xfrm>
          <a:prstGeom prst="rect">
            <a:avLst/>
          </a:prstGeom>
          <a:noFill/>
          <a:ln w="0">
            <a:noFill/>
          </a:ln>
        </p:spPr>
        <p:txBody>
          <a:bodyPr anchor="t">
            <a:noAutofit/>
          </a:bodyPr>
          <a:lstStyle/>
          <a:p>
            <a:pPr>
              <a:defRPr sz="1425" b="0">
                <a:solidFill>
                  <a:srgbClr val="536A70"/>
                </a:solidFill>
                <a:latin typeface="Arial"/>
                <a:ea typeface="Arial"/>
                <a:cs typeface="Arial"/>
              </a:defRPr>
            </a:pPr>
            <a:r>
              <a:rPr sz="1425" b="0">
                <a:solidFill>
                  <a:srgbClr val="536A70"/>
                </a:solidFill>
                <a:latin typeface="Arial"/>
                <a:ea typeface="Arial"/>
                <a:cs typeface="Arial"/>
              </a:rPr>
              <a:t>Set TRIAGE_URL to the confirmed local endpoint. The pasted README curl URLs are incomplete.</a:t>
            </a:r>
          </a:p>
        </p:txBody>
      </p:sp>
    </p:spTree>
    <p:extLst>
      <p:ext uri="{BB962C8B-B14F-4D97-AF65-F5344CB8AC3E}">
        <p14:creationId xmlns:p14="http://schemas.microsoft.com/office/powerpoint/2010/main" val="1776339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9E1321B-16FF-4C6E-925C-C07EA8210BBE}"/>
              </a:ext>
            </a:extLst>
          </p:cNvPr>
          <p:cNvSpPr>
            <a:spLocks noGrp="1"/>
          </p:cNvSpPr>
          <p:nvPr/>
        </p:nvSpPr>
        <p:spPr>
          <a:xfrm>
            <a:off x="533400" y="247650"/>
            <a:ext cx="3810000" cy="228600"/>
          </a:xfrm>
          <a:prstGeom prst="rect">
            <a:avLst/>
          </a:prstGeom>
          <a:noFill/>
          <a:ln w="0">
            <a:noFill/>
          </a:ln>
        </p:spPr>
        <p:txBody>
          <a:bodyPr anchor="t">
            <a:noAutofit/>
          </a:bodyPr>
          <a:lstStyle/>
          <a:p>
            <a:pPr>
              <a:defRPr sz="1200" b="1">
                <a:solidFill>
                  <a:srgbClr val="087E83"/>
                </a:solidFill>
                <a:latin typeface="Arial"/>
                <a:ea typeface="Arial"/>
                <a:cs typeface="Arial"/>
              </a:defRPr>
            </a:pPr>
            <a:r>
              <a:rPr sz="1200" b="1">
                <a:solidFill>
                  <a:srgbClr val="087E83"/>
                </a:solidFill>
                <a:latin typeface="Arial"/>
                <a:ea typeface="Arial"/>
                <a:cs typeface="Arial"/>
              </a:rPr>
              <a:t>AFYAPLUS AI</a:t>
            </a:r>
          </a:p>
        </p:txBody>
      </p:sp>
      <p:sp>
        <p:nvSpPr>
          <p:cNvPr id="2" name="Rectangle 1">
            <a:extLst>
              <a:ext uri="{FF2B5EF4-FFF2-40B4-BE49-F238E27FC236}">
                <a16:creationId xmlns:a16="http://schemas.microsoft.com/office/drawing/2014/main" id="{623154C8-476C-4F8D-952F-F522C05810DA}"/>
              </a:ext>
            </a:extLst>
          </p:cNvPr>
          <p:cNvSpPr>
            <a:spLocks noGrp="1"/>
          </p:cNvSpPr>
          <p:nvPr/>
        </p:nvSpPr>
        <p:spPr>
          <a:xfrm>
            <a:off x="11068050" y="247650"/>
            <a:ext cx="590550" cy="228600"/>
          </a:xfrm>
          <a:prstGeom prst="rect">
            <a:avLst/>
          </a:prstGeom>
          <a:noFill/>
          <a:ln w="0">
            <a:noFill/>
          </a:ln>
        </p:spPr>
        <p:txBody>
          <a:bodyPr anchor="t">
            <a:noAutofit/>
          </a:bodyPr>
          <a:lstStyle/>
          <a:p>
            <a:pPr>
              <a:defRPr sz="1200" b="1">
                <a:solidFill>
                  <a:srgbClr val="087E83"/>
                </a:solidFill>
                <a:latin typeface="Arial"/>
                <a:ea typeface="Arial"/>
                <a:cs typeface="Arial"/>
              </a:defRPr>
            </a:pPr>
            <a:r>
              <a:rPr sz="1200" b="1">
                <a:solidFill>
                  <a:srgbClr val="087E83"/>
                </a:solidFill>
                <a:latin typeface="Arial"/>
                <a:ea typeface="Arial"/>
                <a:cs typeface="Arial"/>
              </a:rPr>
              <a:t>06</a:t>
            </a:r>
          </a:p>
        </p:txBody>
      </p:sp>
      <p:sp>
        <p:nvSpPr>
          <p:cNvPr id="3" name="Rectangle 2">
            <a:extLst>
              <a:ext uri="{FF2B5EF4-FFF2-40B4-BE49-F238E27FC236}">
                <a16:creationId xmlns:a16="http://schemas.microsoft.com/office/drawing/2014/main" id="{5E27B787-79C3-4EBF-BFEF-8BD88E1D7155}"/>
              </a:ext>
            </a:extLst>
          </p:cNvPr>
          <p:cNvSpPr>
            <a:spLocks noGrp="1"/>
          </p:cNvSpPr>
          <p:nvPr/>
        </p:nvSpPr>
        <p:spPr>
          <a:xfrm>
            <a:off x="533400" y="714375"/>
            <a:ext cx="11125200" cy="666750"/>
          </a:xfrm>
          <a:prstGeom prst="rect">
            <a:avLst/>
          </a:prstGeom>
          <a:noFill/>
          <a:ln w="0">
            <a:noFill/>
          </a:ln>
        </p:spPr>
        <p:txBody>
          <a:bodyPr anchor="t">
            <a:noAutofit/>
          </a:bodyPr>
          <a:lstStyle/>
          <a:p>
            <a:pPr>
              <a:defRPr sz="3300" b="1">
                <a:solidFill>
                  <a:srgbClr val="17313A"/>
                </a:solidFill>
                <a:latin typeface="Arial"/>
                <a:ea typeface="Arial"/>
                <a:cs typeface="Arial"/>
              </a:defRPr>
            </a:pPr>
            <a:r>
              <a:rPr sz="3300" b="1">
                <a:solidFill>
                  <a:srgbClr val="17313A"/>
                </a:solidFill>
                <a:latin typeface="Arial"/>
                <a:ea typeface="Arial"/>
                <a:cs typeface="Arial"/>
              </a:rPr>
              <a:t>Testing pyramid evidence</a:t>
            </a:r>
          </a:p>
        </p:txBody>
      </p:sp>
      <p:sp>
        <p:nvSpPr>
          <p:cNvPr id="4" name="Rectangle 3">
            <a:extLst>
              <a:ext uri="{FF2B5EF4-FFF2-40B4-BE49-F238E27FC236}">
                <a16:creationId xmlns:a16="http://schemas.microsoft.com/office/drawing/2014/main" id="{C251BF09-D02D-4C03-8282-E03800D6D5E5}"/>
              </a:ext>
            </a:extLst>
          </p:cNvPr>
          <p:cNvSpPr>
            <a:spLocks noGrp="1"/>
          </p:cNvSpPr>
          <p:nvPr/>
        </p:nvSpPr>
        <p:spPr>
          <a:xfrm>
            <a:off x="533400" y="1381125"/>
            <a:ext cx="11125200" cy="514350"/>
          </a:xfrm>
          <a:prstGeom prst="rect">
            <a:avLst/>
          </a:prstGeom>
          <a:noFill/>
          <a:ln w="0">
            <a:noFill/>
          </a:ln>
        </p:spPr>
        <p:txBody>
          <a:bodyPr anchor="t">
            <a:noAutofit/>
          </a:bodyPr>
          <a:lstStyle/>
          <a:p>
            <a:pPr>
              <a:defRPr sz="1725" b="0">
                <a:solidFill>
                  <a:srgbClr val="536A70"/>
                </a:solidFill>
                <a:latin typeface="Arial"/>
                <a:ea typeface="Arial"/>
                <a:cs typeface="Arial"/>
              </a:defRPr>
            </a:pPr>
            <a:r>
              <a:rPr sz="1725" b="0">
                <a:solidFill>
                  <a:srgbClr val="536A70"/>
                </a:solidFill>
                <a:latin typeface="Arial"/>
                <a:ea typeface="Arial"/>
                <a:cs typeface="Arial"/>
              </a:rPr>
              <a:t>Test definitions support the story. Run artifacts still determine what the system proves.</a:t>
            </a:r>
          </a:p>
        </p:txBody>
      </p:sp>
      <p:sp>
        <p:nvSpPr>
          <p:cNvPr id="5" name="Rectangle 4">
            <a:extLst>
              <a:ext uri="{FF2B5EF4-FFF2-40B4-BE49-F238E27FC236}">
                <a16:creationId xmlns:a16="http://schemas.microsoft.com/office/drawing/2014/main" id="{5571EC21-6F6D-4EC3-98CD-E1B0BC39540F}"/>
              </a:ext>
            </a:extLst>
          </p:cNvPr>
          <p:cNvSpPr>
            <a:spLocks noGrp="1"/>
          </p:cNvSpPr>
          <p:nvPr/>
        </p:nvSpPr>
        <p:spPr>
          <a:xfrm>
            <a:off x="533400" y="6334125"/>
            <a:ext cx="11125200" cy="19050"/>
          </a:xfrm>
          <a:prstGeom prst="rect">
            <a:avLst/>
          </a:prstGeom>
          <a:solidFill>
            <a:srgbClr val="CCDCDA"/>
          </a:solidFill>
          <a:ln w="0">
            <a:noFill/>
          </a:ln>
        </p:spPr>
        <p:txBody>
          <a:bodyPr/>
          <a:lstStyle/>
          <a:p>
            <a:endParaRPr lang="en-US"/>
          </a:p>
        </p:txBody>
      </p:sp>
      <p:sp>
        <p:nvSpPr>
          <p:cNvPr id="6" name="Rectangle 5">
            <a:extLst>
              <a:ext uri="{FF2B5EF4-FFF2-40B4-BE49-F238E27FC236}">
                <a16:creationId xmlns:a16="http://schemas.microsoft.com/office/drawing/2014/main" id="{0C3547EE-0A6C-490F-9FAA-AC768CCE0837}"/>
              </a:ext>
            </a:extLst>
          </p:cNvPr>
          <p:cNvSpPr>
            <a:spLocks noGrp="1"/>
          </p:cNvSpPr>
          <p:nvPr/>
        </p:nvSpPr>
        <p:spPr>
          <a:xfrm>
            <a:off x="533400" y="6457950"/>
            <a:ext cx="8572500" cy="200025"/>
          </a:xfrm>
          <a:prstGeom prst="rect">
            <a:avLst/>
          </a:prstGeom>
          <a:noFill/>
          <a:ln w="0">
            <a:noFill/>
          </a:ln>
        </p:spPr>
        <p:txBody>
          <a:bodyPr anchor="t">
            <a:noAutofit/>
          </a:bodyPr>
          <a:lstStyle/>
          <a:p>
            <a:pPr>
              <a:defRPr sz="1125" b="0">
                <a:solidFill>
                  <a:srgbClr val="536A70"/>
                </a:solidFill>
                <a:latin typeface="Arial"/>
                <a:ea typeface="Arial"/>
                <a:cs typeface="Arial"/>
              </a:defRPr>
            </a:pPr>
            <a:r>
              <a:rPr sz="1125" b="0">
                <a:solidFill>
                  <a:srgbClr val="536A70"/>
                </a:solidFill>
                <a:latin typeface="Arial"/>
                <a:ea typeface="Arial"/>
                <a:cs typeface="Arial"/>
              </a:rPr>
              <a:t>Integrated capstone</a:t>
            </a:r>
          </a:p>
        </p:txBody>
      </p:sp>
      <p:sp>
        <p:nvSpPr>
          <p:cNvPr id="7" name="Rectangle 6">
            <a:extLst>
              <a:ext uri="{FF2B5EF4-FFF2-40B4-BE49-F238E27FC236}">
                <a16:creationId xmlns:a16="http://schemas.microsoft.com/office/drawing/2014/main" id="{EECD5C03-5E72-47DF-AB4A-37EE08D2885C}"/>
              </a:ext>
            </a:extLst>
          </p:cNvPr>
          <p:cNvSpPr>
            <a:spLocks noGrp="1"/>
          </p:cNvSpPr>
          <p:nvPr/>
        </p:nvSpPr>
        <p:spPr>
          <a:xfrm>
            <a:off x="1924050" y="2266950"/>
            <a:ext cx="2590800" cy="819150"/>
          </a:xfrm>
          <a:prstGeom prst="rect">
            <a:avLst/>
          </a:prstGeom>
          <a:solidFill>
            <a:srgbClr val="DDF3ED"/>
          </a:solidFill>
          <a:ln w="0">
            <a:noFill/>
          </a:ln>
        </p:spPr>
        <p:txBody>
          <a:bodyPr/>
          <a:lstStyle/>
          <a:p>
            <a:endParaRPr lang="en-US"/>
          </a:p>
        </p:txBody>
      </p:sp>
      <p:sp>
        <p:nvSpPr>
          <p:cNvPr id="8" name="Rectangle 7">
            <a:extLst>
              <a:ext uri="{FF2B5EF4-FFF2-40B4-BE49-F238E27FC236}">
                <a16:creationId xmlns:a16="http://schemas.microsoft.com/office/drawing/2014/main" id="{B371EB24-6182-44AE-B70D-F7D9E838CBE4}"/>
              </a:ext>
            </a:extLst>
          </p:cNvPr>
          <p:cNvSpPr>
            <a:spLocks noGrp="1"/>
          </p:cNvSpPr>
          <p:nvPr/>
        </p:nvSpPr>
        <p:spPr>
          <a:xfrm>
            <a:off x="2152650" y="2505075"/>
            <a:ext cx="2143125" cy="352425"/>
          </a:xfrm>
          <a:prstGeom prst="rect">
            <a:avLst/>
          </a:prstGeom>
          <a:noFill/>
          <a:ln w="0">
            <a:noFill/>
          </a:ln>
        </p:spPr>
        <p:txBody>
          <a:bodyPr anchor="t">
            <a:noAutofit/>
          </a:bodyPr>
          <a:lstStyle/>
          <a:p>
            <a:pPr>
              <a:defRPr sz="2025" b="1">
                <a:solidFill>
                  <a:srgbClr val="087E83"/>
                </a:solidFill>
                <a:latin typeface="Arial"/>
                <a:ea typeface="Arial"/>
                <a:cs typeface="Arial"/>
              </a:defRPr>
            </a:pPr>
            <a:r>
              <a:rPr sz="2025" b="1">
                <a:solidFill>
                  <a:srgbClr val="087E83"/>
                </a:solidFill>
                <a:latin typeface="Arial"/>
                <a:ea typeface="Arial"/>
                <a:cs typeface="Arial"/>
              </a:rPr>
              <a:t>Integration</a:t>
            </a:r>
          </a:p>
        </p:txBody>
      </p:sp>
      <p:sp>
        <p:nvSpPr>
          <p:cNvPr id="9" name="Rectangle 8">
            <a:extLst>
              <a:ext uri="{FF2B5EF4-FFF2-40B4-BE49-F238E27FC236}">
                <a16:creationId xmlns:a16="http://schemas.microsoft.com/office/drawing/2014/main" id="{922060AF-2CC0-4B05-8E7A-0F9AD5D39201}"/>
              </a:ext>
            </a:extLst>
          </p:cNvPr>
          <p:cNvSpPr>
            <a:spLocks noGrp="1"/>
          </p:cNvSpPr>
          <p:nvPr/>
        </p:nvSpPr>
        <p:spPr>
          <a:xfrm>
            <a:off x="1266825" y="3276600"/>
            <a:ext cx="3905250" cy="876300"/>
          </a:xfrm>
          <a:prstGeom prst="rect">
            <a:avLst/>
          </a:prstGeom>
          <a:solidFill>
            <a:srgbClr val="F4F8F7"/>
          </a:solidFill>
          <a:ln w="9525">
            <a:solidFill>
              <a:srgbClr val="CCDCDA"/>
            </a:solidFill>
          </a:ln>
        </p:spPr>
        <p:txBody>
          <a:bodyPr/>
          <a:lstStyle/>
          <a:p>
            <a:endParaRPr lang="en-US"/>
          </a:p>
        </p:txBody>
      </p:sp>
      <p:sp>
        <p:nvSpPr>
          <p:cNvPr id="10" name="Rectangle 9">
            <a:extLst>
              <a:ext uri="{FF2B5EF4-FFF2-40B4-BE49-F238E27FC236}">
                <a16:creationId xmlns:a16="http://schemas.microsoft.com/office/drawing/2014/main" id="{7B22217A-C92F-4E66-9A3C-38F468A03E7D}"/>
              </a:ext>
            </a:extLst>
          </p:cNvPr>
          <p:cNvSpPr>
            <a:spLocks noGrp="1"/>
          </p:cNvSpPr>
          <p:nvPr/>
        </p:nvSpPr>
        <p:spPr>
          <a:xfrm>
            <a:off x="1657350" y="3543300"/>
            <a:ext cx="3286125" cy="361950"/>
          </a:xfrm>
          <a:prstGeom prst="rect">
            <a:avLst/>
          </a:prstGeom>
          <a:noFill/>
          <a:ln w="0">
            <a:noFill/>
          </a:ln>
        </p:spPr>
        <p:txBody>
          <a:bodyPr anchor="t">
            <a:noAutofit/>
          </a:bodyPr>
          <a:lstStyle/>
          <a:p>
            <a:pPr>
              <a:defRPr sz="2025" b="1">
                <a:solidFill>
                  <a:srgbClr val="087E83"/>
                </a:solidFill>
                <a:latin typeface="Arial"/>
                <a:ea typeface="Arial"/>
                <a:cs typeface="Arial"/>
              </a:defRPr>
            </a:pPr>
            <a:r>
              <a:rPr sz="2025" b="1">
                <a:solidFill>
                  <a:srgbClr val="087E83"/>
                </a:solidFill>
                <a:latin typeface="Arial"/>
                <a:ea typeface="Arial"/>
                <a:cs typeface="Arial"/>
              </a:rPr>
              <a:t>Security smoke</a:t>
            </a:r>
          </a:p>
        </p:txBody>
      </p:sp>
      <p:sp>
        <p:nvSpPr>
          <p:cNvPr id="11" name="Rectangle 10">
            <a:extLst>
              <a:ext uri="{FF2B5EF4-FFF2-40B4-BE49-F238E27FC236}">
                <a16:creationId xmlns:a16="http://schemas.microsoft.com/office/drawing/2014/main" id="{179E80CD-EF54-4C94-8F27-DA68B6D3857D}"/>
              </a:ext>
            </a:extLst>
          </p:cNvPr>
          <p:cNvSpPr>
            <a:spLocks noGrp="1"/>
          </p:cNvSpPr>
          <p:nvPr/>
        </p:nvSpPr>
        <p:spPr>
          <a:xfrm>
            <a:off x="533400" y="4343400"/>
            <a:ext cx="5372100" cy="1028700"/>
          </a:xfrm>
          <a:prstGeom prst="rect">
            <a:avLst/>
          </a:prstGeom>
          <a:solidFill>
            <a:srgbClr val="123C43"/>
          </a:solidFill>
          <a:ln w="0">
            <a:noFill/>
          </a:ln>
        </p:spPr>
        <p:txBody>
          <a:bodyPr/>
          <a:lstStyle/>
          <a:p>
            <a:endParaRPr lang="en-US"/>
          </a:p>
        </p:txBody>
      </p:sp>
      <p:sp>
        <p:nvSpPr>
          <p:cNvPr id="12" name="Rectangle 11">
            <a:extLst>
              <a:ext uri="{FF2B5EF4-FFF2-40B4-BE49-F238E27FC236}">
                <a16:creationId xmlns:a16="http://schemas.microsoft.com/office/drawing/2014/main" id="{6806E3DF-191C-4CFC-A6A8-CBE64D5A55A7}"/>
              </a:ext>
            </a:extLst>
          </p:cNvPr>
          <p:cNvSpPr>
            <a:spLocks noGrp="1"/>
          </p:cNvSpPr>
          <p:nvPr/>
        </p:nvSpPr>
        <p:spPr>
          <a:xfrm>
            <a:off x="885825" y="4676775"/>
            <a:ext cx="4572000" cy="400050"/>
          </a:xfrm>
          <a:prstGeom prst="rect">
            <a:avLst/>
          </a:prstGeom>
          <a:noFill/>
          <a:ln w="0">
            <a:noFill/>
          </a:ln>
        </p:spPr>
        <p:txBody>
          <a:bodyPr anchor="t">
            <a:noAutofit/>
          </a:bodyPr>
          <a:lstStyle/>
          <a:p>
            <a:pPr>
              <a:defRPr sz="2250" b="1">
                <a:solidFill>
                  <a:srgbClr val="FFFFFF"/>
                </a:solidFill>
                <a:latin typeface="Arial"/>
                <a:ea typeface="Arial"/>
                <a:cs typeface="Arial"/>
              </a:defRPr>
            </a:pPr>
            <a:r>
              <a:rPr sz="2250" b="1">
                <a:solidFill>
                  <a:srgbClr val="FFFFFF"/>
                </a:solidFill>
                <a:latin typeface="Arial"/>
                <a:ea typeface="Arial"/>
                <a:cs typeface="Arial"/>
              </a:rPr>
              <a:t>Unit tests</a:t>
            </a:r>
          </a:p>
        </p:txBody>
      </p:sp>
      <p:sp>
        <p:nvSpPr>
          <p:cNvPr id="13" name="Rectangle 12">
            <a:extLst>
              <a:ext uri="{FF2B5EF4-FFF2-40B4-BE49-F238E27FC236}">
                <a16:creationId xmlns:a16="http://schemas.microsoft.com/office/drawing/2014/main" id="{2C3312E4-A9D9-47D4-86CF-5E5B720C0664}"/>
              </a:ext>
            </a:extLst>
          </p:cNvPr>
          <p:cNvSpPr>
            <a:spLocks noGrp="1"/>
          </p:cNvSpPr>
          <p:nvPr/>
        </p:nvSpPr>
        <p:spPr>
          <a:xfrm>
            <a:off x="533400" y="5724525"/>
            <a:ext cx="5362575" cy="352425"/>
          </a:xfrm>
          <a:prstGeom prst="rect">
            <a:avLst/>
          </a:prstGeom>
          <a:noFill/>
          <a:ln w="0">
            <a:noFill/>
          </a:ln>
        </p:spPr>
        <p:txBody>
          <a:bodyPr anchor="t">
            <a:noAutofit/>
          </a:bodyPr>
          <a:lstStyle/>
          <a:p>
            <a:pPr>
              <a:defRPr sz="1800" b="0">
                <a:solidFill>
                  <a:srgbClr val="087E83"/>
                </a:solidFill>
                <a:latin typeface="Consolas"/>
                <a:ea typeface="Consolas"/>
                <a:cs typeface="Consolas"/>
              </a:defRPr>
            </a:pPr>
            <a:r>
              <a:rPr sz="1800" b="0">
                <a:solidFill>
                  <a:srgbClr val="087E83"/>
                </a:solidFill>
                <a:latin typeface="Consolas"/>
                <a:ea typeface="Consolas"/>
                <a:cs typeface="Consolas"/>
              </a:rPr>
              <a:t>python -m pytest -q</a:t>
            </a:r>
          </a:p>
        </p:txBody>
      </p:sp>
      <p:sp>
        <p:nvSpPr>
          <p:cNvPr id="14" name="Rectangle 13">
            <a:extLst>
              <a:ext uri="{FF2B5EF4-FFF2-40B4-BE49-F238E27FC236}">
                <a16:creationId xmlns:a16="http://schemas.microsoft.com/office/drawing/2014/main" id="{7885CEB1-A09D-472E-8A74-C53E1D689359}"/>
              </a:ext>
            </a:extLst>
          </p:cNvPr>
          <p:cNvSpPr>
            <a:spLocks noGrp="1"/>
          </p:cNvSpPr>
          <p:nvPr/>
        </p:nvSpPr>
        <p:spPr>
          <a:xfrm>
            <a:off x="6581775" y="2190750"/>
            <a:ext cx="4953000" cy="381000"/>
          </a:xfrm>
          <a:prstGeom prst="rect">
            <a:avLst/>
          </a:prstGeom>
          <a:noFill/>
          <a:ln w="0">
            <a:noFill/>
          </a:ln>
        </p:spPr>
        <p:txBody>
          <a:bodyPr anchor="t">
            <a:noAutofit/>
          </a:bodyPr>
          <a:lstStyle/>
          <a:p>
            <a:pPr>
              <a:defRPr sz="2100" b="1">
                <a:solidFill>
                  <a:srgbClr val="17313A"/>
                </a:solidFill>
                <a:latin typeface="Arial"/>
                <a:ea typeface="Arial"/>
                <a:cs typeface="Arial"/>
              </a:defRPr>
            </a:pPr>
            <a:r>
              <a:rPr sz="2100" b="1">
                <a:solidFill>
                  <a:srgbClr val="17313A"/>
                </a:solidFill>
                <a:latin typeface="Arial"/>
                <a:ea typeface="Arial"/>
                <a:cs typeface="Arial"/>
              </a:rPr>
              <a:t>Assertions in the supplied code</a:t>
            </a:r>
          </a:p>
        </p:txBody>
      </p:sp>
      <p:sp>
        <p:nvSpPr>
          <p:cNvPr id="15" name="Rectangle 14">
            <a:extLst>
              <a:ext uri="{FF2B5EF4-FFF2-40B4-BE49-F238E27FC236}">
                <a16:creationId xmlns:a16="http://schemas.microsoft.com/office/drawing/2014/main" id="{C47210DD-13DC-4A3A-A903-4639E1317F17}"/>
              </a:ext>
            </a:extLst>
          </p:cNvPr>
          <p:cNvSpPr>
            <a:spLocks noGrp="1"/>
          </p:cNvSpPr>
          <p:nvPr/>
        </p:nvSpPr>
        <p:spPr>
          <a:xfrm>
            <a:off x="6581775" y="2695575"/>
            <a:ext cx="4953000" cy="1543050"/>
          </a:xfrm>
          <a:prstGeom prst="rect">
            <a:avLst/>
          </a:prstGeom>
          <a:noFill/>
          <a:ln w="0">
            <a:noFill/>
          </a:ln>
        </p:spPr>
        <p:txBody>
          <a:bodyPr anchor="t">
            <a:noAutofit/>
          </a:bodyPr>
          <a:lstStyle/>
          <a:p>
            <a:pPr>
              <a:defRPr sz="1800" b="0">
                <a:solidFill>
                  <a:srgbClr val="17313A"/>
                </a:solidFill>
                <a:latin typeface="Arial"/>
                <a:ea typeface="Arial"/>
                <a:cs typeface="Arial"/>
              </a:defRPr>
            </a:pPr>
            <a:r>
              <a:rPr sz="1800" b="0">
                <a:solidFill>
                  <a:srgbClr val="17313A"/>
                </a:solidFill>
                <a:latin typeface="Arial"/>
                <a:ea typeface="Arial"/>
                <a:cs typeface="Arial"/>
              </a:rPr>
              <a:t>Triage case: RED_ALERT and</a:t>
            </a:r>
          </a:p>
          <a:p>
            <a:pPr>
              <a:defRPr sz="1800" b="0">
                <a:solidFill>
                  <a:srgbClr val="17313A"/>
                </a:solidFill>
                <a:latin typeface="Arial"/>
                <a:ea typeface="Arial"/>
                <a:cs typeface="Arial"/>
              </a:defRPr>
            </a:pPr>
            <a:r>
              <a:rPr sz="1800" b="0">
                <a:solidFill>
                  <a:srgbClr val="17313A"/>
                </a:solidFill>
                <a:latin typeface="Arial"/>
                <a:ea typeface="Arial"/>
                <a:cs typeface="Arial"/>
              </a:rPr>
              <a:t>EMERGENCY_TRANSFER</a:t>
            </a:r>
          </a:p>
          <a:p>
            <a:pPr>
              <a:defRPr sz="1800" b="0">
                <a:solidFill>
                  <a:srgbClr val="17313A"/>
                </a:solidFill>
                <a:latin typeface="Arial"/>
                <a:ea typeface="Arial"/>
                <a:cs typeface="Arial"/>
              </a:defRPr>
            </a:pPr>
            <a:r>
              <a:rPr sz="1800" b="0">
                <a:solidFill>
                  <a:srgbClr val="17313A"/>
                </a:solidFill>
                <a:latin typeface="Arial"/>
                <a:ea typeface="Arial"/>
                <a:cs typeface="Arial"/>
              </a:rPr>
              <a:t>Model pin: triage entry contains “@”</a:t>
            </a:r>
          </a:p>
          <a:p>
            <a:pPr>
              <a:defRPr sz="1800" b="0">
                <a:solidFill>
                  <a:srgbClr val="17313A"/>
                </a:solidFill>
                <a:latin typeface="Arial"/>
                <a:ea typeface="Arial"/>
                <a:cs typeface="Arial"/>
              </a:defRPr>
            </a:pPr>
            <a:r>
              <a:rPr sz="1800" b="0">
                <a:solidFill>
                  <a:srgbClr val="17313A"/>
                </a:solidFill>
                <a:latin typeface="Arial"/>
                <a:ea typeface="Arial"/>
                <a:cs typeface="Arial"/>
              </a:rPr>
              <a:t>Evaluation function: score == 1.00</a:t>
            </a:r>
          </a:p>
        </p:txBody>
      </p:sp>
      <p:sp>
        <p:nvSpPr>
          <p:cNvPr id="16" name="Rectangle 15">
            <a:extLst>
              <a:ext uri="{FF2B5EF4-FFF2-40B4-BE49-F238E27FC236}">
                <a16:creationId xmlns:a16="http://schemas.microsoft.com/office/drawing/2014/main" id="{1E2BC7D4-784C-46B3-AC55-88E12CB41B8E}"/>
              </a:ext>
            </a:extLst>
          </p:cNvPr>
          <p:cNvSpPr>
            <a:spLocks noGrp="1"/>
          </p:cNvSpPr>
          <p:nvPr/>
        </p:nvSpPr>
        <p:spPr>
          <a:xfrm>
            <a:off x="6581775" y="4524375"/>
            <a:ext cx="4953000" cy="361950"/>
          </a:xfrm>
          <a:prstGeom prst="rect">
            <a:avLst/>
          </a:prstGeom>
          <a:noFill/>
          <a:ln w="0">
            <a:noFill/>
          </a:ln>
        </p:spPr>
        <p:txBody>
          <a:bodyPr anchor="t">
            <a:noAutofit/>
          </a:bodyPr>
          <a:lstStyle/>
          <a:p>
            <a:pPr>
              <a:defRPr sz="2025" b="1">
                <a:solidFill>
                  <a:srgbClr val="087E83"/>
                </a:solidFill>
                <a:latin typeface="Arial"/>
                <a:ea typeface="Arial"/>
                <a:cs typeface="Arial"/>
              </a:defRPr>
            </a:pPr>
            <a:r>
              <a:rPr sz="2025" b="1">
                <a:solidFill>
                  <a:srgbClr val="087E83"/>
                </a:solidFill>
                <a:latin typeface="Arial"/>
                <a:ea typeface="Arial"/>
                <a:cs typeface="Arial"/>
              </a:rPr>
              <a:t>300 synthetic patient entries</a:t>
            </a:r>
          </a:p>
        </p:txBody>
      </p:sp>
      <p:sp>
        <p:nvSpPr>
          <p:cNvPr id="17" name="Rectangle 16">
            <a:extLst>
              <a:ext uri="{FF2B5EF4-FFF2-40B4-BE49-F238E27FC236}">
                <a16:creationId xmlns:a16="http://schemas.microsoft.com/office/drawing/2014/main" id="{33779A0A-8B74-48A7-88EA-833AA0B17FF5}"/>
              </a:ext>
            </a:extLst>
          </p:cNvPr>
          <p:cNvSpPr>
            <a:spLocks noGrp="1"/>
          </p:cNvSpPr>
          <p:nvPr/>
        </p:nvSpPr>
        <p:spPr>
          <a:xfrm>
            <a:off x="6581775" y="4991100"/>
            <a:ext cx="4953000" cy="666750"/>
          </a:xfrm>
          <a:prstGeom prst="rect">
            <a:avLst/>
          </a:prstGeom>
          <a:noFill/>
          <a:ln w="0">
            <a:noFill/>
          </a:ln>
        </p:spPr>
        <p:txBody>
          <a:bodyPr anchor="t">
            <a:noAutofit/>
          </a:bodyPr>
          <a:lstStyle/>
          <a:p>
            <a:pPr>
              <a:defRPr sz="1725" b="0">
                <a:solidFill>
                  <a:srgbClr val="536A70"/>
                </a:solidFill>
                <a:latin typeface="Arial"/>
                <a:ea typeface="Arial"/>
                <a:cs typeface="Arial"/>
              </a:defRPr>
            </a:pPr>
            <a:r>
              <a:rPr sz="1725" b="0">
                <a:solidFill>
                  <a:srgbClr val="536A70"/>
                </a:solidFill>
                <a:latin typeface="Arial"/>
                <a:ea typeface="Arial"/>
                <a:cs typeface="Arial"/>
              </a:rPr>
              <a:t>README fixture count. A 1.00 assertion</a:t>
            </a:r>
          </a:p>
          <a:p>
            <a:pPr>
              <a:defRPr sz="1725" b="0">
                <a:solidFill>
                  <a:srgbClr val="536A70"/>
                </a:solidFill>
                <a:latin typeface="Arial"/>
                <a:ea typeface="Arial"/>
                <a:cs typeface="Arial"/>
              </a:defRPr>
            </a:pPr>
            <a:r>
              <a:rPr sz="1725" b="0">
                <a:solidFill>
                  <a:srgbClr val="536A70"/>
                </a:solidFill>
                <a:latin typeface="Arial"/>
                <a:ea typeface="Arial"/>
                <a:cs typeface="Arial"/>
              </a:rPr>
              <a:t>does not establish clinical precision.</a:t>
            </a:r>
          </a:p>
        </p:txBody>
      </p:sp>
      <p:sp>
        <p:nvSpPr>
          <p:cNvPr id="18" name="Rectangle 17">
            <a:extLst>
              <a:ext uri="{FF2B5EF4-FFF2-40B4-BE49-F238E27FC236}">
                <a16:creationId xmlns:a16="http://schemas.microsoft.com/office/drawing/2014/main" id="{9358282A-7372-49D1-A84C-BB8D542F6971}"/>
              </a:ext>
            </a:extLst>
          </p:cNvPr>
          <p:cNvSpPr>
            <a:spLocks noGrp="1"/>
          </p:cNvSpPr>
          <p:nvPr/>
        </p:nvSpPr>
        <p:spPr>
          <a:xfrm>
            <a:off x="6581775" y="5772150"/>
            <a:ext cx="4953000" cy="457200"/>
          </a:xfrm>
          <a:prstGeom prst="rect">
            <a:avLst/>
          </a:prstGeom>
          <a:noFill/>
          <a:ln w="0">
            <a:noFill/>
          </a:ln>
        </p:spPr>
        <p:txBody>
          <a:bodyPr anchor="t">
            <a:noAutofit/>
          </a:bodyPr>
          <a:lstStyle/>
          <a:p>
            <a:pPr>
              <a:defRPr sz="1500" b="0">
                <a:solidFill>
                  <a:srgbClr val="9A5B19"/>
                </a:solidFill>
                <a:latin typeface="Arial"/>
                <a:ea typeface="Arial"/>
                <a:cs typeface="Arial"/>
              </a:defRPr>
            </a:pPr>
            <a:r>
              <a:rPr sz="1500" b="0">
                <a:solidFill>
                  <a:srgbClr val="9A5B19"/>
                </a:solidFill>
                <a:latin typeface="Arial"/>
                <a:ea typeface="Arial"/>
                <a:cs typeface="Arial"/>
              </a:rPr>
              <a:t>Smoke pass: reported. Pytest output and</a:t>
            </a:r>
          </a:p>
          <a:p>
            <a:pPr>
              <a:defRPr sz="1500" b="0">
                <a:solidFill>
                  <a:srgbClr val="9A5B19"/>
                </a:solidFill>
                <a:latin typeface="Arial"/>
                <a:ea typeface="Arial"/>
                <a:cs typeface="Arial"/>
              </a:defRPr>
            </a:pPr>
            <a:r>
              <a:rPr sz="1500" b="0">
                <a:solidFill>
                  <a:srgbClr val="9A5B19"/>
                </a:solidFill>
                <a:latin typeface="Arial"/>
                <a:ea typeface="Arial"/>
                <a:cs typeface="Arial"/>
              </a:rPr>
              <a:t>latency/throughput files: not supplied.</a:t>
            </a:r>
          </a:p>
        </p:txBody>
      </p:sp>
    </p:spTree>
    <p:extLst>
      <p:ext uri="{BB962C8B-B14F-4D97-AF65-F5344CB8AC3E}">
        <p14:creationId xmlns:p14="http://schemas.microsoft.com/office/powerpoint/2010/main" val="1941122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DE3F2E4-00E4-47F2-88E9-A7258001E713}"/>
              </a:ext>
            </a:extLst>
          </p:cNvPr>
          <p:cNvSpPr>
            <a:spLocks noGrp="1"/>
          </p:cNvSpPr>
          <p:nvPr/>
        </p:nvSpPr>
        <p:spPr>
          <a:xfrm>
            <a:off x="533400" y="247650"/>
            <a:ext cx="3810000" cy="228600"/>
          </a:xfrm>
          <a:prstGeom prst="rect">
            <a:avLst/>
          </a:prstGeom>
          <a:noFill/>
          <a:ln w="0">
            <a:noFill/>
          </a:ln>
        </p:spPr>
        <p:txBody>
          <a:bodyPr anchor="t">
            <a:noAutofit/>
          </a:bodyPr>
          <a:lstStyle/>
          <a:p>
            <a:pPr>
              <a:defRPr sz="1200" b="1">
                <a:solidFill>
                  <a:srgbClr val="087E83"/>
                </a:solidFill>
                <a:latin typeface="Arial"/>
                <a:ea typeface="Arial"/>
                <a:cs typeface="Arial"/>
              </a:defRPr>
            </a:pPr>
            <a:r>
              <a:rPr sz="1200" b="1">
                <a:solidFill>
                  <a:srgbClr val="087E83"/>
                </a:solidFill>
                <a:latin typeface="Arial"/>
                <a:ea typeface="Arial"/>
                <a:cs typeface="Arial"/>
              </a:rPr>
              <a:t>AFYAPLUS AI</a:t>
            </a:r>
          </a:p>
        </p:txBody>
      </p:sp>
      <p:sp>
        <p:nvSpPr>
          <p:cNvPr id="2" name="Rectangle 1">
            <a:extLst>
              <a:ext uri="{FF2B5EF4-FFF2-40B4-BE49-F238E27FC236}">
                <a16:creationId xmlns:a16="http://schemas.microsoft.com/office/drawing/2014/main" id="{A4367C44-85CD-41CC-AC7A-DFE580BDA643}"/>
              </a:ext>
            </a:extLst>
          </p:cNvPr>
          <p:cNvSpPr>
            <a:spLocks noGrp="1"/>
          </p:cNvSpPr>
          <p:nvPr/>
        </p:nvSpPr>
        <p:spPr>
          <a:xfrm>
            <a:off x="11068050" y="247650"/>
            <a:ext cx="590550" cy="228600"/>
          </a:xfrm>
          <a:prstGeom prst="rect">
            <a:avLst/>
          </a:prstGeom>
          <a:noFill/>
          <a:ln w="0">
            <a:noFill/>
          </a:ln>
        </p:spPr>
        <p:txBody>
          <a:bodyPr anchor="t">
            <a:noAutofit/>
          </a:bodyPr>
          <a:lstStyle/>
          <a:p>
            <a:pPr>
              <a:defRPr sz="1200" b="1">
                <a:solidFill>
                  <a:srgbClr val="087E83"/>
                </a:solidFill>
                <a:latin typeface="Arial"/>
                <a:ea typeface="Arial"/>
                <a:cs typeface="Arial"/>
              </a:defRPr>
            </a:pPr>
            <a:r>
              <a:rPr sz="1200" b="1">
                <a:solidFill>
                  <a:srgbClr val="087E83"/>
                </a:solidFill>
                <a:latin typeface="Arial"/>
                <a:ea typeface="Arial"/>
                <a:cs typeface="Arial"/>
              </a:rPr>
              <a:t>07</a:t>
            </a:r>
          </a:p>
        </p:txBody>
      </p:sp>
      <p:sp>
        <p:nvSpPr>
          <p:cNvPr id="3" name="Rectangle 2">
            <a:extLst>
              <a:ext uri="{FF2B5EF4-FFF2-40B4-BE49-F238E27FC236}">
                <a16:creationId xmlns:a16="http://schemas.microsoft.com/office/drawing/2014/main" id="{927DEC2E-17C5-4621-9E69-D3E8F3A413E3}"/>
              </a:ext>
            </a:extLst>
          </p:cNvPr>
          <p:cNvSpPr>
            <a:spLocks noGrp="1"/>
          </p:cNvSpPr>
          <p:nvPr/>
        </p:nvSpPr>
        <p:spPr>
          <a:xfrm>
            <a:off x="533400" y="714375"/>
            <a:ext cx="11125200" cy="666750"/>
          </a:xfrm>
          <a:prstGeom prst="rect">
            <a:avLst/>
          </a:prstGeom>
          <a:noFill/>
          <a:ln w="0">
            <a:noFill/>
          </a:ln>
        </p:spPr>
        <p:txBody>
          <a:bodyPr anchor="t">
            <a:noAutofit/>
          </a:bodyPr>
          <a:lstStyle/>
          <a:p>
            <a:pPr>
              <a:defRPr sz="3300" b="1">
                <a:solidFill>
                  <a:srgbClr val="17313A"/>
                </a:solidFill>
                <a:latin typeface="Arial"/>
                <a:ea typeface="Arial"/>
                <a:cs typeface="Arial"/>
              </a:defRPr>
            </a:pPr>
            <a:r>
              <a:rPr sz="3300" b="1">
                <a:solidFill>
                  <a:srgbClr val="17313A"/>
                </a:solidFill>
                <a:latin typeface="Arial"/>
                <a:ea typeface="Arial"/>
                <a:cs typeface="Arial"/>
              </a:rPr>
              <a:t>Security and compliance engineering</a:t>
            </a:r>
          </a:p>
        </p:txBody>
      </p:sp>
      <p:sp>
        <p:nvSpPr>
          <p:cNvPr id="4" name="Rectangle 3">
            <a:extLst>
              <a:ext uri="{FF2B5EF4-FFF2-40B4-BE49-F238E27FC236}">
                <a16:creationId xmlns:a16="http://schemas.microsoft.com/office/drawing/2014/main" id="{8092D403-8F28-4F5C-9BBD-DF589CD4511E}"/>
              </a:ext>
            </a:extLst>
          </p:cNvPr>
          <p:cNvSpPr>
            <a:spLocks noGrp="1"/>
          </p:cNvSpPr>
          <p:nvPr/>
        </p:nvSpPr>
        <p:spPr>
          <a:xfrm>
            <a:off x="533400" y="1381125"/>
            <a:ext cx="11125200" cy="514350"/>
          </a:xfrm>
          <a:prstGeom prst="rect">
            <a:avLst/>
          </a:prstGeom>
          <a:noFill/>
          <a:ln w="0">
            <a:noFill/>
          </a:ln>
        </p:spPr>
        <p:txBody>
          <a:bodyPr anchor="t">
            <a:noAutofit/>
          </a:bodyPr>
          <a:lstStyle/>
          <a:p>
            <a:pPr>
              <a:defRPr sz="1725" b="0">
                <a:solidFill>
                  <a:srgbClr val="536A70"/>
                </a:solidFill>
                <a:latin typeface="Arial"/>
                <a:ea typeface="Arial"/>
                <a:cs typeface="Arial"/>
              </a:defRPr>
            </a:pPr>
            <a:r>
              <a:rPr sz="1725" b="0">
                <a:solidFill>
                  <a:srgbClr val="536A70"/>
                </a:solidFill>
                <a:latin typeface="Arial"/>
                <a:ea typeface="Arial"/>
                <a:cs typeface="Arial"/>
              </a:rPr>
              <a:t>Logging incident: 12 October 2026. Legal review remains open.</a:t>
            </a:r>
          </a:p>
        </p:txBody>
      </p:sp>
      <p:sp>
        <p:nvSpPr>
          <p:cNvPr id="5" name="Rectangle 4">
            <a:extLst>
              <a:ext uri="{FF2B5EF4-FFF2-40B4-BE49-F238E27FC236}">
                <a16:creationId xmlns:a16="http://schemas.microsoft.com/office/drawing/2014/main" id="{B0D59B5C-2CDF-442D-922A-E3EF605C4A39}"/>
              </a:ext>
            </a:extLst>
          </p:cNvPr>
          <p:cNvSpPr>
            <a:spLocks noGrp="1"/>
          </p:cNvSpPr>
          <p:nvPr/>
        </p:nvSpPr>
        <p:spPr>
          <a:xfrm>
            <a:off x="533400" y="6334125"/>
            <a:ext cx="11125200" cy="19050"/>
          </a:xfrm>
          <a:prstGeom prst="rect">
            <a:avLst/>
          </a:prstGeom>
          <a:solidFill>
            <a:srgbClr val="CCDCDA"/>
          </a:solidFill>
          <a:ln w="0">
            <a:noFill/>
          </a:ln>
        </p:spPr>
        <p:txBody>
          <a:bodyPr/>
          <a:lstStyle/>
          <a:p>
            <a:endParaRPr lang="en-US"/>
          </a:p>
        </p:txBody>
      </p:sp>
      <p:sp>
        <p:nvSpPr>
          <p:cNvPr id="6" name="Rectangle 5">
            <a:extLst>
              <a:ext uri="{FF2B5EF4-FFF2-40B4-BE49-F238E27FC236}">
                <a16:creationId xmlns:a16="http://schemas.microsoft.com/office/drawing/2014/main" id="{0604A8B7-BEFC-4BB0-9AE0-01FCB91E04CA}"/>
              </a:ext>
            </a:extLst>
          </p:cNvPr>
          <p:cNvSpPr>
            <a:spLocks noGrp="1"/>
          </p:cNvSpPr>
          <p:nvPr/>
        </p:nvSpPr>
        <p:spPr>
          <a:xfrm>
            <a:off x="533400" y="6457950"/>
            <a:ext cx="8572500" cy="200025"/>
          </a:xfrm>
          <a:prstGeom prst="rect">
            <a:avLst/>
          </a:prstGeom>
          <a:noFill/>
          <a:ln w="0">
            <a:noFill/>
          </a:ln>
        </p:spPr>
        <p:txBody>
          <a:bodyPr anchor="t">
            <a:noAutofit/>
          </a:bodyPr>
          <a:lstStyle/>
          <a:p>
            <a:pPr>
              <a:defRPr sz="1125" b="0">
                <a:solidFill>
                  <a:srgbClr val="536A70"/>
                </a:solidFill>
                <a:latin typeface="Arial"/>
                <a:ea typeface="Arial"/>
                <a:cs typeface="Arial"/>
              </a:defRPr>
            </a:pPr>
            <a:r>
              <a:rPr sz="1125" b="0">
                <a:solidFill>
                  <a:srgbClr val="536A70"/>
                </a:solidFill>
                <a:latin typeface="Arial"/>
                <a:ea typeface="Arial"/>
                <a:cs typeface="Arial"/>
              </a:rPr>
              <a:t>Integrated capstone</a:t>
            </a:r>
          </a:p>
        </p:txBody>
      </p:sp>
      <p:sp>
        <p:nvSpPr>
          <p:cNvPr id="7" name="Rectangle 6">
            <a:extLst>
              <a:ext uri="{FF2B5EF4-FFF2-40B4-BE49-F238E27FC236}">
                <a16:creationId xmlns:a16="http://schemas.microsoft.com/office/drawing/2014/main" id="{568A48B6-A162-4EB2-9C3B-D028BB24B7DD}"/>
              </a:ext>
            </a:extLst>
          </p:cNvPr>
          <p:cNvSpPr>
            <a:spLocks noGrp="1"/>
          </p:cNvSpPr>
          <p:nvPr/>
        </p:nvSpPr>
        <p:spPr>
          <a:xfrm>
            <a:off x="533400" y="2057400"/>
            <a:ext cx="5619750" cy="428625"/>
          </a:xfrm>
          <a:prstGeom prst="rect">
            <a:avLst/>
          </a:prstGeom>
          <a:noFill/>
          <a:ln w="0">
            <a:noFill/>
          </a:ln>
        </p:spPr>
        <p:txBody>
          <a:bodyPr anchor="t">
            <a:noAutofit/>
          </a:bodyPr>
          <a:lstStyle/>
          <a:p>
            <a:pPr>
              <a:defRPr sz="2175" b="1">
                <a:solidFill>
                  <a:srgbClr val="087E83"/>
                </a:solidFill>
                <a:latin typeface="Arial"/>
                <a:ea typeface="Arial"/>
                <a:cs typeface="Arial"/>
              </a:defRPr>
            </a:pPr>
            <a:r>
              <a:rPr sz="2175" b="1">
                <a:solidFill>
                  <a:srgbClr val="087E83"/>
                </a:solidFill>
                <a:latin typeface="Arial"/>
                <a:ea typeface="Arial"/>
                <a:cs typeface="Arial"/>
              </a:rPr>
              <a:t>Incident and reported resolution</a:t>
            </a:r>
          </a:p>
        </p:txBody>
      </p:sp>
      <p:sp>
        <p:nvSpPr>
          <p:cNvPr id="8" name="Rectangle 7">
            <a:extLst>
              <a:ext uri="{FF2B5EF4-FFF2-40B4-BE49-F238E27FC236}">
                <a16:creationId xmlns:a16="http://schemas.microsoft.com/office/drawing/2014/main" id="{4299AB02-B1A7-403C-8EDD-626383D92DD3}"/>
              </a:ext>
            </a:extLst>
          </p:cNvPr>
          <p:cNvSpPr>
            <a:spLocks noGrp="1"/>
          </p:cNvSpPr>
          <p:nvPr/>
        </p:nvSpPr>
        <p:spPr>
          <a:xfrm>
            <a:off x="533400" y="2771775"/>
            <a:ext cx="1666875" cy="352425"/>
          </a:xfrm>
          <a:prstGeom prst="rect">
            <a:avLst/>
          </a:prstGeom>
          <a:noFill/>
          <a:ln w="0">
            <a:noFill/>
          </a:ln>
        </p:spPr>
        <p:txBody>
          <a:bodyPr anchor="t">
            <a:noAutofit/>
          </a:bodyPr>
          <a:lstStyle/>
          <a:p>
            <a:pPr>
              <a:defRPr sz="1725" b="1">
                <a:solidFill>
                  <a:srgbClr val="17313A"/>
                </a:solidFill>
                <a:latin typeface="Arial"/>
                <a:ea typeface="Arial"/>
                <a:cs typeface="Arial"/>
              </a:defRPr>
            </a:pPr>
            <a:r>
              <a:rPr sz="1725" b="1">
                <a:solidFill>
                  <a:srgbClr val="17313A"/>
                </a:solidFill>
                <a:latin typeface="Arial"/>
                <a:ea typeface="Arial"/>
                <a:cs typeface="Arial"/>
              </a:rPr>
              <a:t>Fault</a:t>
            </a:r>
          </a:p>
        </p:txBody>
      </p:sp>
      <p:sp>
        <p:nvSpPr>
          <p:cNvPr id="9" name="Rectangle 8">
            <a:extLst>
              <a:ext uri="{FF2B5EF4-FFF2-40B4-BE49-F238E27FC236}">
                <a16:creationId xmlns:a16="http://schemas.microsoft.com/office/drawing/2014/main" id="{CF48EDD6-01FB-4884-8E87-4A730EC7161A}"/>
              </a:ext>
            </a:extLst>
          </p:cNvPr>
          <p:cNvSpPr>
            <a:spLocks noGrp="1"/>
          </p:cNvSpPr>
          <p:nvPr/>
        </p:nvSpPr>
        <p:spPr>
          <a:xfrm>
            <a:off x="2238375" y="2771775"/>
            <a:ext cx="3838575" cy="800100"/>
          </a:xfrm>
          <a:prstGeom prst="rect">
            <a:avLst/>
          </a:prstGeom>
          <a:noFill/>
          <a:ln w="0">
            <a:noFill/>
          </a:ln>
        </p:spPr>
        <p:txBody>
          <a:bodyPr anchor="t">
            <a:noAutofit/>
          </a:bodyPr>
          <a:lstStyle/>
          <a:p>
            <a:pPr>
              <a:defRPr sz="1725" b="0">
                <a:solidFill>
                  <a:srgbClr val="536A70"/>
                </a:solidFill>
                <a:latin typeface="Arial"/>
                <a:ea typeface="Arial"/>
                <a:cs typeface="Arial"/>
              </a:defRPr>
            </a:pPr>
            <a:r>
              <a:rPr sz="1725" b="0">
                <a:solidFill>
                  <a:srgbClr val="536A70"/>
                </a:solidFill>
                <a:latin typeface="Arial"/>
                <a:ea typeface="Arial"/>
                <a:cs typeface="Arial"/>
              </a:rPr>
              <a:t>Leading whitespace bypassed token checks,</a:t>
            </a:r>
          </a:p>
          <a:p>
            <a:pPr>
              <a:defRPr sz="1725" b="0">
                <a:solidFill>
                  <a:srgbClr val="536A70"/>
                </a:solidFill>
                <a:latin typeface="Arial"/>
                <a:ea typeface="Arial"/>
                <a:cs typeface="Arial"/>
              </a:defRPr>
            </a:pPr>
            <a:r>
              <a:rPr sz="1725" b="0">
                <a:solidFill>
                  <a:srgbClr val="536A70"/>
                </a:solidFill>
                <a:latin typeface="Arial"/>
                <a:ea typeface="Arial"/>
                <a:cs typeface="Arial"/>
              </a:rPr>
              <a:t>allowing raw authorization strings into logs.</a:t>
            </a:r>
          </a:p>
        </p:txBody>
      </p:sp>
      <p:sp>
        <p:nvSpPr>
          <p:cNvPr id="10" name="Rectangle 9">
            <a:extLst>
              <a:ext uri="{FF2B5EF4-FFF2-40B4-BE49-F238E27FC236}">
                <a16:creationId xmlns:a16="http://schemas.microsoft.com/office/drawing/2014/main" id="{CB4C750D-854C-4646-8EBE-D98A44FCDF4D}"/>
              </a:ext>
            </a:extLst>
          </p:cNvPr>
          <p:cNvSpPr>
            <a:spLocks noGrp="1"/>
          </p:cNvSpPr>
          <p:nvPr/>
        </p:nvSpPr>
        <p:spPr>
          <a:xfrm>
            <a:off x="533400" y="3829050"/>
            <a:ext cx="1666875" cy="352425"/>
          </a:xfrm>
          <a:prstGeom prst="rect">
            <a:avLst/>
          </a:prstGeom>
          <a:noFill/>
          <a:ln w="0">
            <a:noFill/>
          </a:ln>
        </p:spPr>
        <p:txBody>
          <a:bodyPr anchor="t">
            <a:noAutofit/>
          </a:bodyPr>
          <a:lstStyle/>
          <a:p>
            <a:pPr>
              <a:defRPr sz="1725" b="1">
                <a:solidFill>
                  <a:srgbClr val="17313A"/>
                </a:solidFill>
                <a:latin typeface="Arial"/>
                <a:ea typeface="Arial"/>
                <a:cs typeface="Arial"/>
              </a:defRPr>
            </a:pPr>
            <a:r>
              <a:rPr sz="1725" b="1">
                <a:solidFill>
                  <a:srgbClr val="17313A"/>
                </a:solidFill>
                <a:latin typeface="Arial"/>
                <a:ea typeface="Arial"/>
                <a:cs typeface="Arial"/>
              </a:rPr>
              <a:t>Fix</a:t>
            </a:r>
          </a:p>
        </p:txBody>
      </p:sp>
      <p:sp>
        <p:nvSpPr>
          <p:cNvPr id="11" name="Rectangle 10">
            <a:extLst>
              <a:ext uri="{FF2B5EF4-FFF2-40B4-BE49-F238E27FC236}">
                <a16:creationId xmlns:a16="http://schemas.microsoft.com/office/drawing/2014/main" id="{3ACE30E1-5260-4C58-98DD-5C3934E972B1}"/>
              </a:ext>
            </a:extLst>
          </p:cNvPr>
          <p:cNvSpPr>
            <a:spLocks noGrp="1"/>
          </p:cNvSpPr>
          <p:nvPr/>
        </p:nvSpPr>
        <p:spPr>
          <a:xfrm>
            <a:off x="2238375" y="3829050"/>
            <a:ext cx="3838575" cy="800100"/>
          </a:xfrm>
          <a:prstGeom prst="rect">
            <a:avLst/>
          </a:prstGeom>
          <a:noFill/>
          <a:ln w="0">
            <a:noFill/>
          </a:ln>
        </p:spPr>
        <p:txBody>
          <a:bodyPr anchor="t">
            <a:noAutofit/>
          </a:bodyPr>
          <a:lstStyle/>
          <a:p>
            <a:pPr>
              <a:defRPr sz="1725" b="0">
                <a:solidFill>
                  <a:srgbClr val="536A70"/>
                </a:solidFill>
                <a:latin typeface="Arial"/>
                <a:ea typeface="Arial"/>
                <a:cs typeface="Arial"/>
              </a:defRPr>
            </a:pPr>
            <a:r>
              <a:rPr sz="1725" b="0">
                <a:solidFill>
                  <a:srgbClr val="536A70"/>
                </a:solidFill>
                <a:latin typeface="Arial"/>
                <a:ea typeface="Arial"/>
                <a:cs typeface="Arial"/>
              </a:rPr>
              <a:t>The note reports string removal and SHA-256 payload hashing.</a:t>
            </a:r>
          </a:p>
        </p:txBody>
      </p:sp>
      <p:sp>
        <p:nvSpPr>
          <p:cNvPr id="12" name="Rectangle 11">
            <a:extLst>
              <a:ext uri="{FF2B5EF4-FFF2-40B4-BE49-F238E27FC236}">
                <a16:creationId xmlns:a16="http://schemas.microsoft.com/office/drawing/2014/main" id="{7A6E7F44-D241-41AB-8E83-4BA38AEA1406}"/>
              </a:ext>
            </a:extLst>
          </p:cNvPr>
          <p:cNvSpPr>
            <a:spLocks noGrp="1"/>
          </p:cNvSpPr>
          <p:nvPr/>
        </p:nvSpPr>
        <p:spPr>
          <a:xfrm>
            <a:off x="533400" y="4886325"/>
            <a:ext cx="1666875" cy="352425"/>
          </a:xfrm>
          <a:prstGeom prst="rect">
            <a:avLst/>
          </a:prstGeom>
          <a:noFill/>
          <a:ln w="0">
            <a:noFill/>
          </a:ln>
        </p:spPr>
        <p:txBody>
          <a:bodyPr anchor="t">
            <a:noAutofit/>
          </a:bodyPr>
          <a:lstStyle/>
          <a:p>
            <a:pPr>
              <a:defRPr sz="1725" b="1">
                <a:solidFill>
                  <a:srgbClr val="17313A"/>
                </a:solidFill>
                <a:latin typeface="Arial"/>
                <a:ea typeface="Arial"/>
                <a:cs typeface="Arial"/>
              </a:defRPr>
            </a:pPr>
            <a:r>
              <a:rPr sz="1725" b="1">
                <a:solidFill>
                  <a:srgbClr val="17313A"/>
                </a:solidFill>
                <a:latin typeface="Arial"/>
                <a:ea typeface="Arial"/>
                <a:cs typeface="Arial"/>
              </a:rPr>
              <a:t>Regression check</a:t>
            </a:r>
          </a:p>
        </p:txBody>
      </p:sp>
      <p:sp>
        <p:nvSpPr>
          <p:cNvPr id="13" name="Rectangle 12">
            <a:extLst>
              <a:ext uri="{FF2B5EF4-FFF2-40B4-BE49-F238E27FC236}">
                <a16:creationId xmlns:a16="http://schemas.microsoft.com/office/drawing/2014/main" id="{A0756D01-69D1-4FEA-BDAE-778459FA95B4}"/>
              </a:ext>
            </a:extLst>
          </p:cNvPr>
          <p:cNvSpPr>
            <a:spLocks noGrp="1"/>
          </p:cNvSpPr>
          <p:nvPr/>
        </p:nvSpPr>
        <p:spPr>
          <a:xfrm>
            <a:off x="2238375" y="4886325"/>
            <a:ext cx="3838575" cy="800100"/>
          </a:xfrm>
          <a:prstGeom prst="rect">
            <a:avLst/>
          </a:prstGeom>
          <a:noFill/>
          <a:ln w="0">
            <a:noFill/>
          </a:ln>
        </p:spPr>
        <p:txBody>
          <a:bodyPr anchor="t">
            <a:noAutofit/>
          </a:bodyPr>
          <a:lstStyle/>
          <a:p>
            <a:pPr>
              <a:defRPr sz="1725" b="0">
                <a:solidFill>
                  <a:srgbClr val="536A70"/>
                </a:solidFill>
                <a:latin typeface="Arial"/>
                <a:ea typeface="Arial"/>
                <a:cs typeface="Arial"/>
              </a:defRPr>
            </a:pPr>
            <a:r>
              <a:rPr sz="1725" b="0">
                <a:solidFill>
                  <a:srgbClr val="536A70"/>
                </a:solidFill>
                <a:latin typeface="Arial"/>
                <a:ea typeface="Arial"/>
                <a:cs typeface="Arial"/>
              </a:rPr>
              <a:t>tests/test_security_smoke.py</a:t>
            </a:r>
          </a:p>
          <a:p>
            <a:pPr>
              <a:defRPr sz="1725" b="0">
                <a:solidFill>
                  <a:srgbClr val="536A70"/>
                </a:solidFill>
                <a:latin typeface="Arial"/>
                <a:ea typeface="Arial"/>
                <a:cs typeface="Arial"/>
              </a:defRPr>
            </a:pPr>
            <a:r>
              <a:rPr sz="1725" b="0">
                <a:solidFill>
                  <a:srgbClr val="536A70"/>
                </a:solidFill>
                <a:latin typeface="Arial"/>
                <a:ea typeface="Arial"/>
                <a:cs typeface="Arial"/>
              </a:rPr>
              <a:t>passes according to the incident note.</a:t>
            </a:r>
          </a:p>
        </p:txBody>
      </p:sp>
      <p:sp>
        <p:nvSpPr>
          <p:cNvPr id="14" name="Rectangle 13">
            <a:extLst>
              <a:ext uri="{FF2B5EF4-FFF2-40B4-BE49-F238E27FC236}">
                <a16:creationId xmlns:a16="http://schemas.microsoft.com/office/drawing/2014/main" id="{94098030-2F70-49E5-8AF2-B0EC432DB88D}"/>
              </a:ext>
            </a:extLst>
          </p:cNvPr>
          <p:cNvSpPr>
            <a:spLocks noGrp="1"/>
          </p:cNvSpPr>
          <p:nvPr/>
        </p:nvSpPr>
        <p:spPr>
          <a:xfrm>
            <a:off x="6477000" y="2066925"/>
            <a:ext cx="19050" cy="3829050"/>
          </a:xfrm>
          <a:prstGeom prst="rect">
            <a:avLst/>
          </a:prstGeom>
          <a:solidFill>
            <a:srgbClr val="CCDCDA"/>
          </a:solidFill>
          <a:ln w="0">
            <a:noFill/>
          </a:ln>
        </p:spPr>
        <p:txBody>
          <a:bodyPr/>
          <a:lstStyle/>
          <a:p>
            <a:endParaRPr lang="en-US"/>
          </a:p>
        </p:txBody>
      </p:sp>
      <p:sp>
        <p:nvSpPr>
          <p:cNvPr id="15" name="Rectangle 14">
            <a:extLst>
              <a:ext uri="{FF2B5EF4-FFF2-40B4-BE49-F238E27FC236}">
                <a16:creationId xmlns:a16="http://schemas.microsoft.com/office/drawing/2014/main" id="{0515A808-BD2D-4D32-B7E8-E5E47F816FF9}"/>
              </a:ext>
            </a:extLst>
          </p:cNvPr>
          <p:cNvSpPr>
            <a:spLocks noGrp="1"/>
          </p:cNvSpPr>
          <p:nvPr/>
        </p:nvSpPr>
        <p:spPr>
          <a:xfrm>
            <a:off x="6896100" y="2057400"/>
            <a:ext cx="4762500" cy="428625"/>
          </a:xfrm>
          <a:prstGeom prst="rect">
            <a:avLst/>
          </a:prstGeom>
          <a:noFill/>
          <a:ln w="0">
            <a:noFill/>
          </a:ln>
        </p:spPr>
        <p:txBody>
          <a:bodyPr anchor="t">
            <a:noAutofit/>
          </a:bodyPr>
          <a:lstStyle/>
          <a:p>
            <a:pPr>
              <a:defRPr sz="2100" b="1">
                <a:solidFill>
                  <a:srgbClr val="087E83"/>
                </a:solidFill>
                <a:latin typeface="Arial"/>
                <a:ea typeface="Arial"/>
                <a:cs typeface="Arial"/>
              </a:defRPr>
            </a:pPr>
            <a:r>
              <a:rPr sz="2100" b="1">
                <a:solidFill>
                  <a:srgbClr val="087E83"/>
                </a:solidFill>
                <a:latin typeface="Arial"/>
                <a:ea typeface="Arial"/>
                <a:cs typeface="Arial"/>
              </a:rPr>
              <a:t>Privacy controls</a:t>
            </a:r>
          </a:p>
        </p:txBody>
      </p:sp>
      <p:sp>
        <p:nvSpPr>
          <p:cNvPr id="16" name="Rectangle 15">
            <a:extLst>
              <a:ext uri="{FF2B5EF4-FFF2-40B4-BE49-F238E27FC236}">
                <a16:creationId xmlns:a16="http://schemas.microsoft.com/office/drawing/2014/main" id="{A5FE9FEE-3296-4B6D-BDD3-403B5F736025}"/>
              </a:ext>
            </a:extLst>
          </p:cNvPr>
          <p:cNvSpPr>
            <a:spLocks noGrp="1"/>
          </p:cNvSpPr>
          <p:nvPr/>
        </p:nvSpPr>
        <p:spPr>
          <a:xfrm>
            <a:off x="6896100" y="2724150"/>
            <a:ext cx="4619625" cy="361950"/>
          </a:xfrm>
          <a:prstGeom prst="rect">
            <a:avLst/>
          </a:prstGeom>
          <a:noFill/>
          <a:ln w="0">
            <a:noFill/>
          </a:ln>
        </p:spPr>
        <p:txBody>
          <a:bodyPr anchor="t">
            <a:noAutofit/>
          </a:bodyPr>
          <a:lstStyle/>
          <a:p>
            <a:pPr>
              <a:defRPr sz="1800" b="1">
                <a:solidFill>
                  <a:srgbClr val="17313A"/>
                </a:solidFill>
                <a:latin typeface="Arial"/>
                <a:ea typeface="Arial"/>
                <a:cs typeface="Arial"/>
              </a:defRPr>
            </a:pPr>
            <a:r>
              <a:rPr sz="1800" b="1">
                <a:solidFill>
                  <a:srgbClr val="17313A"/>
                </a:solidFill>
                <a:latin typeface="Arial"/>
                <a:ea typeface="Arial"/>
                <a:cs typeface="Arial"/>
              </a:rPr>
              <a:t>Declared controls</a:t>
            </a:r>
          </a:p>
        </p:txBody>
      </p:sp>
      <p:sp>
        <p:nvSpPr>
          <p:cNvPr id="17" name="Rectangle 16">
            <a:extLst>
              <a:ext uri="{FF2B5EF4-FFF2-40B4-BE49-F238E27FC236}">
                <a16:creationId xmlns:a16="http://schemas.microsoft.com/office/drawing/2014/main" id="{73750AB7-06B1-41C5-8495-5D376C69172C}"/>
              </a:ext>
            </a:extLst>
          </p:cNvPr>
          <p:cNvSpPr>
            <a:spLocks noGrp="1"/>
          </p:cNvSpPr>
          <p:nvPr/>
        </p:nvSpPr>
        <p:spPr>
          <a:xfrm>
            <a:off x="6896100" y="3143250"/>
            <a:ext cx="4619625" cy="704850"/>
          </a:xfrm>
          <a:prstGeom prst="rect">
            <a:avLst/>
          </a:prstGeom>
          <a:noFill/>
          <a:ln w="0">
            <a:noFill/>
          </a:ln>
        </p:spPr>
        <p:txBody>
          <a:bodyPr anchor="t">
            <a:noAutofit/>
          </a:bodyPr>
          <a:lstStyle/>
          <a:p>
            <a:pPr>
              <a:defRPr sz="1800" b="0">
                <a:solidFill>
                  <a:srgbClr val="536A70"/>
                </a:solidFill>
                <a:latin typeface="Arial"/>
                <a:ea typeface="Arial"/>
                <a:cs typeface="Arial"/>
              </a:defRPr>
            </a:pPr>
            <a:r>
              <a:rPr sz="1800" b="0">
                <a:solidFill>
                  <a:srgbClr val="536A70"/>
                </a:solidFill>
                <a:latin typeface="Arial"/>
                <a:ea typeface="Arial"/>
                <a:cs typeface="Arial"/>
              </a:rPr>
              <a:t>Token masking and retention loops. Restricted MCP data access.</a:t>
            </a:r>
          </a:p>
        </p:txBody>
      </p:sp>
      <p:sp>
        <p:nvSpPr>
          <p:cNvPr id="18" name="Rectangle 17">
            <a:extLst>
              <a:ext uri="{FF2B5EF4-FFF2-40B4-BE49-F238E27FC236}">
                <a16:creationId xmlns:a16="http://schemas.microsoft.com/office/drawing/2014/main" id="{115FDD7F-C22F-485B-A715-4A38DCC86926}"/>
              </a:ext>
            </a:extLst>
          </p:cNvPr>
          <p:cNvSpPr>
            <a:spLocks noGrp="1"/>
          </p:cNvSpPr>
          <p:nvPr/>
        </p:nvSpPr>
        <p:spPr>
          <a:xfrm>
            <a:off x="6896100" y="4086225"/>
            <a:ext cx="4619625" cy="361950"/>
          </a:xfrm>
          <a:prstGeom prst="rect">
            <a:avLst/>
          </a:prstGeom>
          <a:noFill/>
          <a:ln w="0">
            <a:noFill/>
          </a:ln>
        </p:spPr>
        <p:txBody>
          <a:bodyPr anchor="t">
            <a:noAutofit/>
          </a:bodyPr>
          <a:lstStyle/>
          <a:p>
            <a:pPr>
              <a:defRPr sz="1800" b="1">
                <a:solidFill>
                  <a:srgbClr val="17313A"/>
                </a:solidFill>
                <a:latin typeface="Arial"/>
                <a:ea typeface="Arial"/>
                <a:cs typeface="Arial"/>
              </a:defRPr>
            </a:pPr>
            <a:r>
              <a:rPr sz="1800" b="1">
                <a:solidFill>
                  <a:srgbClr val="17313A"/>
                </a:solidFill>
                <a:latin typeface="Arial"/>
                <a:ea typeface="Arial"/>
                <a:cs typeface="Arial"/>
              </a:rPr>
              <a:t>Evidence still needed</a:t>
            </a:r>
          </a:p>
        </p:txBody>
      </p:sp>
      <p:sp>
        <p:nvSpPr>
          <p:cNvPr id="19" name="Rectangle 18">
            <a:extLst>
              <a:ext uri="{FF2B5EF4-FFF2-40B4-BE49-F238E27FC236}">
                <a16:creationId xmlns:a16="http://schemas.microsoft.com/office/drawing/2014/main" id="{843B6B10-CF02-4438-B958-E7A54043CAB5}"/>
              </a:ext>
            </a:extLst>
          </p:cNvPr>
          <p:cNvSpPr>
            <a:spLocks noGrp="1"/>
          </p:cNvSpPr>
          <p:nvPr/>
        </p:nvSpPr>
        <p:spPr>
          <a:xfrm>
            <a:off x="6896100" y="4505325"/>
            <a:ext cx="4619625" cy="695325"/>
          </a:xfrm>
          <a:prstGeom prst="rect">
            <a:avLst/>
          </a:prstGeom>
          <a:noFill/>
          <a:ln w="0">
            <a:noFill/>
          </a:ln>
        </p:spPr>
        <p:txBody>
          <a:bodyPr anchor="t">
            <a:noAutofit/>
          </a:bodyPr>
          <a:lstStyle/>
          <a:p>
            <a:pPr>
              <a:defRPr sz="1800" b="0">
                <a:solidFill>
                  <a:srgbClr val="536A70"/>
                </a:solidFill>
                <a:latin typeface="Arial"/>
                <a:ea typeface="Arial"/>
                <a:cs typeface="Arial"/>
              </a:defRPr>
            </a:pPr>
            <a:r>
              <a:rPr sz="1800" b="0">
                <a:solidFill>
                  <a:srgbClr val="536A70"/>
                </a:solidFill>
                <a:latin typeface="Arial"/>
                <a:ea typeface="Arial"/>
                <a:cs typeface="Arial"/>
              </a:rPr>
              <a:t>Asset inventory, retention schedule and sweeper run records.</a:t>
            </a:r>
          </a:p>
        </p:txBody>
      </p:sp>
      <p:sp>
        <p:nvSpPr>
          <p:cNvPr id="20" name="Rectangle 19">
            <a:extLst>
              <a:ext uri="{FF2B5EF4-FFF2-40B4-BE49-F238E27FC236}">
                <a16:creationId xmlns:a16="http://schemas.microsoft.com/office/drawing/2014/main" id="{3D157F57-9083-4F58-BBB9-94E3C55D5BE9}"/>
              </a:ext>
            </a:extLst>
          </p:cNvPr>
          <p:cNvSpPr>
            <a:spLocks noGrp="1"/>
          </p:cNvSpPr>
          <p:nvPr/>
        </p:nvSpPr>
        <p:spPr>
          <a:xfrm>
            <a:off x="6896100" y="5524500"/>
            <a:ext cx="4619625" cy="600075"/>
          </a:xfrm>
          <a:prstGeom prst="rect">
            <a:avLst/>
          </a:prstGeom>
          <a:noFill/>
          <a:ln w="0">
            <a:noFill/>
          </a:ln>
        </p:spPr>
        <p:txBody>
          <a:bodyPr anchor="t">
            <a:noAutofit/>
          </a:bodyPr>
          <a:lstStyle/>
          <a:p>
            <a:pPr>
              <a:defRPr sz="1725" b="0">
                <a:solidFill>
                  <a:srgbClr val="9A5B19"/>
                </a:solidFill>
                <a:latin typeface="Arial"/>
                <a:ea typeface="Arial"/>
                <a:cs typeface="Arial"/>
              </a:defRPr>
            </a:pPr>
            <a:r>
              <a:rPr sz="1725" b="0">
                <a:solidFill>
                  <a:srgbClr val="9A5B19"/>
                </a:solidFill>
                <a:latin typeface="Arial"/>
                <a:ea typeface="Arial"/>
                <a:cs typeface="Arial"/>
              </a:rPr>
              <a:t>KDPA alignment is an aim. Lawful-basis</a:t>
            </a:r>
          </a:p>
          <a:p>
            <a:pPr>
              <a:defRPr sz="1725" b="0">
                <a:solidFill>
                  <a:srgbClr val="9A5B19"/>
                </a:solidFill>
                <a:latin typeface="Arial"/>
                <a:ea typeface="Arial"/>
                <a:cs typeface="Arial"/>
              </a:defRPr>
            </a:pPr>
            <a:r>
              <a:rPr sz="1725" b="0">
                <a:solidFill>
                  <a:srgbClr val="9A5B19"/>
                </a:solidFill>
                <a:latin typeface="Arial"/>
                <a:ea typeface="Arial"/>
                <a:cs typeface="Arial"/>
              </a:rPr>
              <a:t>review remains pending.</a:t>
            </a:r>
          </a:p>
        </p:txBody>
      </p:sp>
    </p:spTree>
    <p:extLst>
      <p:ext uri="{BB962C8B-B14F-4D97-AF65-F5344CB8AC3E}">
        <p14:creationId xmlns:p14="http://schemas.microsoft.com/office/powerpoint/2010/main" val="1497688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E44F17D-08A2-4898-95A2-3B678A41F48F}"/>
              </a:ext>
            </a:extLst>
          </p:cNvPr>
          <p:cNvSpPr>
            <a:spLocks noGrp="1"/>
          </p:cNvSpPr>
          <p:nvPr/>
        </p:nvSpPr>
        <p:spPr>
          <a:xfrm>
            <a:off x="533400" y="247650"/>
            <a:ext cx="3810000" cy="228600"/>
          </a:xfrm>
          <a:prstGeom prst="rect">
            <a:avLst/>
          </a:prstGeom>
          <a:noFill/>
          <a:ln w="0">
            <a:noFill/>
          </a:ln>
        </p:spPr>
        <p:txBody>
          <a:bodyPr anchor="t">
            <a:noAutofit/>
          </a:bodyPr>
          <a:lstStyle/>
          <a:p>
            <a:pPr>
              <a:defRPr sz="1200" b="1">
                <a:solidFill>
                  <a:srgbClr val="087E83"/>
                </a:solidFill>
                <a:latin typeface="Arial"/>
                <a:ea typeface="Arial"/>
                <a:cs typeface="Arial"/>
              </a:defRPr>
            </a:pPr>
            <a:r>
              <a:rPr sz="1200" b="1">
                <a:solidFill>
                  <a:srgbClr val="087E83"/>
                </a:solidFill>
                <a:latin typeface="Arial"/>
                <a:ea typeface="Arial"/>
                <a:cs typeface="Arial"/>
              </a:rPr>
              <a:t>AFYAPLUS AI</a:t>
            </a:r>
          </a:p>
        </p:txBody>
      </p:sp>
      <p:sp>
        <p:nvSpPr>
          <p:cNvPr id="2" name="Rectangle 1">
            <a:extLst>
              <a:ext uri="{FF2B5EF4-FFF2-40B4-BE49-F238E27FC236}">
                <a16:creationId xmlns:a16="http://schemas.microsoft.com/office/drawing/2014/main" id="{1C4E0562-7607-4DD0-9AB3-B45F04D0DDBC}"/>
              </a:ext>
            </a:extLst>
          </p:cNvPr>
          <p:cNvSpPr>
            <a:spLocks noGrp="1"/>
          </p:cNvSpPr>
          <p:nvPr/>
        </p:nvSpPr>
        <p:spPr>
          <a:xfrm>
            <a:off x="11068050" y="247650"/>
            <a:ext cx="590550" cy="228600"/>
          </a:xfrm>
          <a:prstGeom prst="rect">
            <a:avLst/>
          </a:prstGeom>
          <a:noFill/>
          <a:ln w="0">
            <a:noFill/>
          </a:ln>
        </p:spPr>
        <p:txBody>
          <a:bodyPr anchor="t">
            <a:noAutofit/>
          </a:bodyPr>
          <a:lstStyle/>
          <a:p>
            <a:pPr>
              <a:defRPr sz="1200" b="1">
                <a:solidFill>
                  <a:srgbClr val="087E83"/>
                </a:solidFill>
                <a:latin typeface="Arial"/>
                <a:ea typeface="Arial"/>
                <a:cs typeface="Arial"/>
              </a:defRPr>
            </a:pPr>
            <a:r>
              <a:rPr sz="1200" b="1">
                <a:solidFill>
                  <a:srgbClr val="087E83"/>
                </a:solidFill>
                <a:latin typeface="Arial"/>
                <a:ea typeface="Arial"/>
                <a:cs typeface="Arial"/>
              </a:rPr>
              <a:t>08</a:t>
            </a:r>
          </a:p>
        </p:txBody>
      </p:sp>
      <p:sp>
        <p:nvSpPr>
          <p:cNvPr id="3" name="Rectangle 2">
            <a:extLst>
              <a:ext uri="{FF2B5EF4-FFF2-40B4-BE49-F238E27FC236}">
                <a16:creationId xmlns:a16="http://schemas.microsoft.com/office/drawing/2014/main" id="{8D1536A8-3D51-490D-9C86-244E78275F52}"/>
              </a:ext>
            </a:extLst>
          </p:cNvPr>
          <p:cNvSpPr>
            <a:spLocks noGrp="1"/>
          </p:cNvSpPr>
          <p:nvPr/>
        </p:nvSpPr>
        <p:spPr>
          <a:xfrm>
            <a:off x="533400" y="714375"/>
            <a:ext cx="11125200" cy="666750"/>
          </a:xfrm>
          <a:prstGeom prst="rect">
            <a:avLst/>
          </a:prstGeom>
          <a:noFill/>
          <a:ln w="0">
            <a:noFill/>
          </a:ln>
        </p:spPr>
        <p:txBody>
          <a:bodyPr anchor="t">
            <a:noAutofit/>
          </a:bodyPr>
          <a:lstStyle/>
          <a:p>
            <a:pPr>
              <a:defRPr sz="3300" b="1">
                <a:solidFill>
                  <a:srgbClr val="17313A"/>
                </a:solidFill>
                <a:latin typeface="Arial"/>
                <a:ea typeface="Arial"/>
                <a:cs typeface="Arial"/>
              </a:defRPr>
            </a:pPr>
            <a:r>
              <a:rPr sz="3300" b="1">
                <a:solidFill>
                  <a:srgbClr val="17313A"/>
                </a:solidFill>
                <a:latin typeface="Arial"/>
                <a:ea typeface="Arial"/>
                <a:cs typeface="Arial"/>
              </a:rPr>
              <a:t>Financial projections and checkpoints</a:t>
            </a:r>
          </a:p>
        </p:txBody>
      </p:sp>
      <p:sp>
        <p:nvSpPr>
          <p:cNvPr id="4" name="Rectangle 3">
            <a:extLst>
              <a:ext uri="{FF2B5EF4-FFF2-40B4-BE49-F238E27FC236}">
                <a16:creationId xmlns:a16="http://schemas.microsoft.com/office/drawing/2014/main" id="{C72B92EF-1019-47A7-8E56-5B73E78F9B1D}"/>
              </a:ext>
            </a:extLst>
          </p:cNvPr>
          <p:cNvSpPr>
            <a:spLocks noGrp="1"/>
          </p:cNvSpPr>
          <p:nvPr/>
        </p:nvSpPr>
        <p:spPr>
          <a:xfrm>
            <a:off x="533400" y="1381125"/>
            <a:ext cx="11125200" cy="514350"/>
          </a:xfrm>
          <a:prstGeom prst="rect">
            <a:avLst/>
          </a:prstGeom>
          <a:noFill/>
          <a:ln w="0">
            <a:noFill/>
          </a:ln>
        </p:spPr>
        <p:txBody>
          <a:bodyPr anchor="t">
            <a:noAutofit/>
          </a:bodyPr>
          <a:lstStyle/>
          <a:p>
            <a:pPr>
              <a:defRPr sz="1725" b="0">
                <a:solidFill>
                  <a:srgbClr val="536A70"/>
                </a:solidFill>
                <a:latin typeface="Arial"/>
                <a:ea typeface="Arial"/>
                <a:cs typeface="Arial"/>
              </a:defRPr>
            </a:pPr>
            <a:r>
              <a:rPr sz="1725" b="0">
                <a:solidFill>
                  <a:srgbClr val="536A70"/>
                </a:solidFill>
                <a:latin typeface="Arial"/>
                <a:ea typeface="Arial"/>
                <a:cs typeface="Arial"/>
              </a:rPr>
              <a:t>Monthly forecast in USD, using the project’s reported 11 October 2026 rate snapshot</a:t>
            </a:r>
          </a:p>
        </p:txBody>
      </p:sp>
      <p:sp>
        <p:nvSpPr>
          <p:cNvPr id="5" name="Rectangle 4">
            <a:extLst>
              <a:ext uri="{FF2B5EF4-FFF2-40B4-BE49-F238E27FC236}">
                <a16:creationId xmlns:a16="http://schemas.microsoft.com/office/drawing/2014/main" id="{2B847EB4-E21B-499F-BFD6-3244B9A6862E}"/>
              </a:ext>
            </a:extLst>
          </p:cNvPr>
          <p:cNvSpPr>
            <a:spLocks noGrp="1"/>
          </p:cNvSpPr>
          <p:nvPr/>
        </p:nvSpPr>
        <p:spPr>
          <a:xfrm>
            <a:off x="533400" y="6334125"/>
            <a:ext cx="11125200" cy="19050"/>
          </a:xfrm>
          <a:prstGeom prst="rect">
            <a:avLst/>
          </a:prstGeom>
          <a:solidFill>
            <a:srgbClr val="CCDCDA"/>
          </a:solidFill>
          <a:ln w="0">
            <a:noFill/>
          </a:ln>
        </p:spPr>
        <p:txBody>
          <a:bodyPr/>
          <a:lstStyle/>
          <a:p>
            <a:endParaRPr lang="en-US"/>
          </a:p>
        </p:txBody>
      </p:sp>
      <p:sp>
        <p:nvSpPr>
          <p:cNvPr id="6" name="Rectangle 5">
            <a:extLst>
              <a:ext uri="{FF2B5EF4-FFF2-40B4-BE49-F238E27FC236}">
                <a16:creationId xmlns:a16="http://schemas.microsoft.com/office/drawing/2014/main" id="{049B7DD6-E85B-40A7-A47E-182CB95803A0}"/>
              </a:ext>
            </a:extLst>
          </p:cNvPr>
          <p:cNvSpPr>
            <a:spLocks noGrp="1"/>
          </p:cNvSpPr>
          <p:nvPr/>
        </p:nvSpPr>
        <p:spPr>
          <a:xfrm>
            <a:off x="533400" y="6457950"/>
            <a:ext cx="8572500" cy="200025"/>
          </a:xfrm>
          <a:prstGeom prst="rect">
            <a:avLst/>
          </a:prstGeom>
          <a:noFill/>
          <a:ln w="0">
            <a:noFill/>
          </a:ln>
        </p:spPr>
        <p:txBody>
          <a:bodyPr anchor="t">
            <a:noAutofit/>
          </a:bodyPr>
          <a:lstStyle/>
          <a:p>
            <a:pPr>
              <a:defRPr sz="1125" b="0">
                <a:solidFill>
                  <a:srgbClr val="536A70"/>
                </a:solidFill>
                <a:latin typeface="Arial"/>
                <a:ea typeface="Arial"/>
                <a:cs typeface="Arial"/>
              </a:defRPr>
            </a:pPr>
            <a:r>
              <a:rPr sz="1125" b="0">
                <a:solidFill>
                  <a:srgbClr val="536A70"/>
                </a:solidFill>
                <a:latin typeface="Arial"/>
                <a:ea typeface="Arial"/>
                <a:cs typeface="Arial"/>
              </a:rPr>
              <a:t>Integrated capstone</a:t>
            </a:r>
          </a:p>
        </p:txBody>
      </p:sp>
      <p:graphicFrame>
        <p:nvGraphicFramePr>
          <p:cNvPr id="7" name="Table 6"/>
          <p:cNvGraphicFramePr/>
          <p:nvPr/>
        </p:nvGraphicFramePr>
        <p:xfrm>
          <a:off x="533400" y="2047875"/>
          <a:ext cx="7191375" cy="3095625"/>
        </p:xfrm>
        <a:graphic>
          <a:graphicData uri="http://schemas.openxmlformats.org/drawingml/2006/table">
            <a:tbl>
              <a:tblPr/>
              <a:tblGrid>
                <a:gridCol w="3286125">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gridCol w="1952625">
                  <a:extLst>
                    <a:ext uri="{9D8B030D-6E8A-4147-A177-3AD203B41FA5}">
                      <a16:colId xmlns:a16="http://schemas.microsoft.com/office/drawing/2014/main" val="20002"/>
                    </a:ext>
                  </a:extLst>
                </a:gridCol>
              </a:tblGrid>
              <a:tr h="515938">
                <a:tc>
                  <a:txBody>
                    <a:bodyPr/>
                    <a:lstStyle/>
                    <a:p>
                      <a:r>
                        <a:rPr sz="1650" b="1">
                          <a:solidFill>
                            <a:srgbClr val="FFFFFF"/>
                          </a:solidFill>
                          <a:latin typeface="Arial"/>
                          <a:ea typeface="Arial"/>
                          <a:cs typeface="Arial"/>
                        </a:rPr>
                        <a:t>Monthly scenario</a:t>
                      </a:r>
                    </a:p>
                  </a:txBody>
                  <a:tcPr>
                    <a:solidFill>
                      <a:srgbClr val="123C43"/>
                    </a:solidFill>
                  </a:tcPr>
                </a:tc>
                <a:tc>
                  <a:txBody>
                    <a:bodyPr/>
                    <a:lstStyle/>
                    <a:p>
                      <a:r>
                        <a:rPr sz="1650" b="1">
                          <a:solidFill>
                            <a:srgbClr val="FFFFFF"/>
                          </a:solidFill>
                          <a:latin typeface="Arial"/>
                          <a:ea typeface="Arial"/>
                          <a:cs typeface="Arial"/>
                        </a:rPr>
                        <a:t>Baseline</a:t>
                      </a:r>
                    </a:p>
                  </a:txBody>
                  <a:tcPr>
                    <a:solidFill>
                      <a:srgbClr val="123C43"/>
                    </a:solidFill>
                  </a:tcPr>
                </a:tc>
                <a:tc>
                  <a:txBody>
                    <a:bodyPr/>
                    <a:lstStyle/>
                    <a:p>
                      <a:r>
                        <a:rPr sz="1650" b="1">
                          <a:solidFill>
                            <a:srgbClr val="FFFFFF"/>
                          </a:solidFill>
                          <a:latin typeface="Arial"/>
                          <a:ea typeface="Arial"/>
                          <a:cs typeface="Arial"/>
                        </a:rPr>
                        <a:t>10× surge</a:t>
                      </a:r>
                    </a:p>
                  </a:txBody>
                  <a:tcPr>
                    <a:solidFill>
                      <a:srgbClr val="123C43"/>
                    </a:solidFill>
                  </a:tcPr>
                </a:tc>
                <a:extLst>
                  <a:ext uri="{0D108BD9-81ED-4DB2-BD59-A6C34878D82A}">
                    <a16:rowId xmlns:a16="http://schemas.microsoft.com/office/drawing/2014/main" val="10000"/>
                  </a:ext>
                </a:extLst>
              </a:tr>
              <a:tr h="515938">
                <a:tc>
                  <a:txBody>
                    <a:bodyPr/>
                    <a:lstStyle/>
                    <a:p>
                      <a:r>
                        <a:rPr sz="1650" b="0">
                          <a:solidFill>
                            <a:srgbClr val="17313A"/>
                          </a:solidFill>
                          <a:latin typeface="Arial"/>
                          <a:ea typeface="Arial"/>
                          <a:cs typeface="Arial"/>
                        </a:rPr>
                        <a:t>Requests</a:t>
                      </a:r>
                    </a:p>
                  </a:txBody>
                  <a:tcPr>
                    <a:solidFill>
                      <a:srgbClr val="FFFFFF"/>
                    </a:solidFill>
                  </a:tcPr>
                </a:tc>
                <a:tc>
                  <a:txBody>
                    <a:bodyPr/>
                    <a:lstStyle/>
                    <a:p>
                      <a:r>
                        <a:rPr sz="1650" b="0">
                          <a:solidFill>
                            <a:srgbClr val="17313A"/>
                          </a:solidFill>
                          <a:latin typeface="Arial"/>
                          <a:ea typeface="Arial"/>
                          <a:cs typeface="Arial"/>
                        </a:rPr>
                        <a:t>100,000</a:t>
                      </a:r>
                    </a:p>
                  </a:txBody>
                  <a:tcPr>
                    <a:solidFill>
                      <a:srgbClr val="FFFFFF"/>
                    </a:solidFill>
                  </a:tcPr>
                </a:tc>
                <a:tc>
                  <a:txBody>
                    <a:bodyPr/>
                    <a:lstStyle/>
                    <a:p>
                      <a:r>
                        <a:rPr sz="1650" b="0">
                          <a:solidFill>
                            <a:srgbClr val="17313A"/>
                          </a:solidFill>
                          <a:latin typeface="Arial"/>
                          <a:ea typeface="Arial"/>
                          <a:cs typeface="Arial"/>
                        </a:rPr>
                        <a:t>1,000,000</a:t>
                      </a:r>
                    </a:p>
                  </a:txBody>
                  <a:tcPr>
                    <a:solidFill>
                      <a:srgbClr val="FFFFFF"/>
                    </a:solidFill>
                  </a:tcPr>
                </a:tc>
                <a:extLst>
                  <a:ext uri="{0D108BD9-81ED-4DB2-BD59-A6C34878D82A}">
                    <a16:rowId xmlns:a16="http://schemas.microsoft.com/office/drawing/2014/main" val="10001"/>
                  </a:ext>
                </a:extLst>
              </a:tr>
              <a:tr h="515938">
                <a:tc>
                  <a:txBody>
                    <a:bodyPr/>
                    <a:lstStyle/>
                    <a:p>
                      <a:r>
                        <a:rPr sz="1650" b="0">
                          <a:solidFill>
                            <a:srgbClr val="17313A"/>
                          </a:solidFill>
                          <a:latin typeface="Arial"/>
                          <a:ea typeface="Arial"/>
                          <a:cs typeface="Arial"/>
                        </a:rPr>
                        <a:t>Token processing</a:t>
                      </a:r>
                    </a:p>
                  </a:txBody>
                  <a:tcPr>
                    <a:solidFill>
                      <a:srgbClr val="F4F8F7"/>
                    </a:solidFill>
                  </a:tcPr>
                </a:tc>
                <a:tc>
                  <a:txBody>
                    <a:bodyPr/>
                    <a:lstStyle/>
                    <a:p>
                      <a:r>
                        <a:rPr sz="1650" b="0">
                          <a:solidFill>
                            <a:srgbClr val="17313A"/>
                          </a:solidFill>
                          <a:latin typeface="Arial"/>
                          <a:ea typeface="Arial"/>
                          <a:cs typeface="Arial"/>
                        </a:rPr>
                        <a:t>$17.90</a:t>
                      </a:r>
                    </a:p>
                  </a:txBody>
                  <a:tcPr>
                    <a:solidFill>
                      <a:srgbClr val="F4F8F7"/>
                    </a:solidFill>
                  </a:tcPr>
                </a:tc>
                <a:tc>
                  <a:txBody>
                    <a:bodyPr/>
                    <a:lstStyle/>
                    <a:p>
                      <a:r>
                        <a:rPr sz="1650" b="0">
                          <a:solidFill>
                            <a:srgbClr val="17313A"/>
                          </a:solidFill>
                          <a:latin typeface="Arial"/>
                          <a:ea typeface="Arial"/>
                          <a:cs typeface="Arial"/>
                        </a:rPr>
                        <a:t>$179.01</a:t>
                      </a:r>
                    </a:p>
                  </a:txBody>
                  <a:tcPr>
                    <a:solidFill>
                      <a:srgbClr val="F4F8F7"/>
                    </a:solidFill>
                  </a:tcPr>
                </a:tc>
                <a:extLst>
                  <a:ext uri="{0D108BD9-81ED-4DB2-BD59-A6C34878D82A}">
                    <a16:rowId xmlns:a16="http://schemas.microsoft.com/office/drawing/2014/main" val="10002"/>
                  </a:ext>
                </a:extLst>
              </a:tr>
              <a:tr h="515938">
                <a:tc>
                  <a:txBody>
                    <a:bodyPr/>
                    <a:lstStyle/>
                    <a:p>
                      <a:r>
                        <a:rPr sz="1650" b="0">
                          <a:solidFill>
                            <a:srgbClr val="17313A"/>
                          </a:solidFill>
                          <a:latin typeface="Arial"/>
                          <a:ea typeface="Arial"/>
                          <a:cs typeface="Arial"/>
                        </a:rPr>
                        <a:t>Infrastructure floor</a:t>
                      </a:r>
                    </a:p>
                  </a:txBody>
                  <a:tcPr>
                    <a:solidFill>
                      <a:srgbClr val="FFFFFF"/>
                    </a:solidFill>
                  </a:tcPr>
                </a:tc>
                <a:tc>
                  <a:txBody>
                    <a:bodyPr/>
                    <a:lstStyle/>
                    <a:p>
                      <a:r>
                        <a:rPr sz="1650" b="0">
                          <a:solidFill>
                            <a:srgbClr val="17313A"/>
                          </a:solidFill>
                          <a:latin typeface="Arial"/>
                          <a:ea typeface="Arial"/>
                          <a:cs typeface="Arial"/>
                        </a:rPr>
                        <a:t>$520.00</a:t>
                      </a:r>
                    </a:p>
                  </a:txBody>
                  <a:tcPr>
                    <a:solidFill>
                      <a:srgbClr val="FFFFFF"/>
                    </a:solidFill>
                  </a:tcPr>
                </a:tc>
                <a:tc>
                  <a:txBody>
                    <a:bodyPr/>
                    <a:lstStyle/>
                    <a:p>
                      <a:r>
                        <a:rPr sz="1650" b="0">
                          <a:solidFill>
                            <a:srgbClr val="17313A"/>
                          </a:solidFill>
                          <a:latin typeface="Arial"/>
                          <a:ea typeface="Arial"/>
                          <a:cs typeface="Arial"/>
                        </a:rPr>
                        <a:t>$800.00</a:t>
                      </a:r>
                    </a:p>
                  </a:txBody>
                  <a:tcPr>
                    <a:solidFill>
                      <a:srgbClr val="FFFFFF"/>
                    </a:solidFill>
                  </a:tcPr>
                </a:tc>
                <a:extLst>
                  <a:ext uri="{0D108BD9-81ED-4DB2-BD59-A6C34878D82A}">
                    <a16:rowId xmlns:a16="http://schemas.microsoft.com/office/drawing/2014/main" val="10003"/>
                  </a:ext>
                </a:extLst>
              </a:tr>
              <a:tr h="515938">
                <a:tc>
                  <a:txBody>
                    <a:bodyPr/>
                    <a:lstStyle/>
                    <a:p>
                      <a:r>
                        <a:rPr sz="1650" b="0">
                          <a:solidFill>
                            <a:srgbClr val="17313A"/>
                          </a:solidFill>
                          <a:latin typeface="Arial"/>
                          <a:ea typeface="Arial"/>
                          <a:cs typeface="Arial"/>
                        </a:rPr>
                        <a:t>Total monthly cost</a:t>
                      </a:r>
                    </a:p>
                  </a:txBody>
                  <a:tcPr>
                    <a:solidFill>
                      <a:srgbClr val="F4F8F7"/>
                    </a:solidFill>
                  </a:tcPr>
                </a:tc>
                <a:tc>
                  <a:txBody>
                    <a:bodyPr/>
                    <a:lstStyle/>
                    <a:p>
                      <a:r>
                        <a:rPr sz="1650" b="0">
                          <a:solidFill>
                            <a:srgbClr val="17313A"/>
                          </a:solidFill>
                          <a:latin typeface="Arial"/>
                          <a:ea typeface="Arial"/>
                          <a:cs typeface="Arial"/>
                        </a:rPr>
                        <a:t>$537.90</a:t>
                      </a:r>
                    </a:p>
                  </a:txBody>
                  <a:tcPr>
                    <a:solidFill>
                      <a:srgbClr val="F4F8F7"/>
                    </a:solidFill>
                  </a:tcPr>
                </a:tc>
                <a:tc>
                  <a:txBody>
                    <a:bodyPr/>
                    <a:lstStyle/>
                    <a:p>
                      <a:r>
                        <a:rPr sz="1650" b="0">
                          <a:solidFill>
                            <a:srgbClr val="17313A"/>
                          </a:solidFill>
                          <a:latin typeface="Arial"/>
                          <a:ea typeface="Arial"/>
                          <a:cs typeface="Arial"/>
                        </a:rPr>
                        <a:t>$979.01</a:t>
                      </a:r>
                    </a:p>
                  </a:txBody>
                  <a:tcPr>
                    <a:solidFill>
                      <a:srgbClr val="F4F8F7"/>
                    </a:solidFill>
                  </a:tcPr>
                </a:tc>
                <a:extLst>
                  <a:ext uri="{0D108BD9-81ED-4DB2-BD59-A6C34878D82A}">
                    <a16:rowId xmlns:a16="http://schemas.microsoft.com/office/drawing/2014/main" val="10004"/>
                  </a:ext>
                </a:extLst>
              </a:tr>
              <a:tr h="515938">
                <a:tc>
                  <a:txBody>
                    <a:bodyPr/>
                    <a:lstStyle/>
                    <a:p>
                      <a:r>
                        <a:rPr sz="1650" b="0">
                          <a:solidFill>
                            <a:srgbClr val="17313A"/>
                          </a:solidFill>
                          <a:latin typeface="Arial"/>
                          <a:ea typeface="Arial"/>
                          <a:cs typeface="Arial"/>
                        </a:rPr>
                        <a:t>Cost per 1k requests</a:t>
                      </a:r>
                    </a:p>
                  </a:txBody>
                  <a:tcPr>
                    <a:solidFill>
                      <a:srgbClr val="FFFFFF"/>
                    </a:solidFill>
                  </a:tcPr>
                </a:tc>
                <a:tc>
                  <a:txBody>
                    <a:bodyPr/>
                    <a:lstStyle/>
                    <a:p>
                      <a:r>
                        <a:rPr sz="1650" b="0">
                          <a:solidFill>
                            <a:srgbClr val="17313A"/>
                          </a:solidFill>
                          <a:latin typeface="Arial"/>
                          <a:ea typeface="Arial"/>
                          <a:cs typeface="Arial"/>
                        </a:rPr>
                        <a:t>$5.3790</a:t>
                      </a:r>
                    </a:p>
                  </a:txBody>
                  <a:tcPr>
                    <a:solidFill>
                      <a:srgbClr val="FFFFFF"/>
                    </a:solidFill>
                  </a:tcPr>
                </a:tc>
                <a:tc>
                  <a:txBody>
                    <a:bodyPr/>
                    <a:lstStyle/>
                    <a:p>
                      <a:r>
                        <a:rPr sz="1650" b="0">
                          <a:solidFill>
                            <a:srgbClr val="17313A"/>
                          </a:solidFill>
                          <a:latin typeface="Arial"/>
                          <a:ea typeface="Arial"/>
                          <a:cs typeface="Arial"/>
                        </a:rPr>
                        <a:t>$0.9790</a:t>
                      </a:r>
                    </a:p>
                  </a:txBody>
                  <a:tcPr>
                    <a:solidFill>
                      <a:srgbClr val="FFFFFF"/>
                    </a:solidFill>
                  </a:tcPr>
                </a:tc>
                <a:extLst>
                  <a:ext uri="{0D108BD9-81ED-4DB2-BD59-A6C34878D82A}">
                    <a16:rowId xmlns:a16="http://schemas.microsoft.com/office/drawing/2014/main" val="10005"/>
                  </a:ext>
                </a:extLst>
              </a:tr>
            </a:tbl>
          </a:graphicData>
        </a:graphic>
      </p:graphicFrame>
      <p:sp>
        <p:nvSpPr>
          <p:cNvPr id="8" name="Rectangle 7">
            <a:extLst>
              <a:ext uri="{FF2B5EF4-FFF2-40B4-BE49-F238E27FC236}">
                <a16:creationId xmlns:a16="http://schemas.microsoft.com/office/drawing/2014/main" id="{6CA8E321-BB8B-45BE-BBFE-909ED3268690}"/>
              </a:ext>
            </a:extLst>
          </p:cNvPr>
          <p:cNvSpPr>
            <a:spLocks noGrp="1"/>
          </p:cNvSpPr>
          <p:nvPr/>
        </p:nvSpPr>
        <p:spPr>
          <a:xfrm>
            <a:off x="533400" y="5334000"/>
            <a:ext cx="7239000" cy="342900"/>
          </a:xfrm>
          <a:prstGeom prst="rect">
            <a:avLst/>
          </a:prstGeom>
          <a:noFill/>
          <a:ln w="0">
            <a:noFill/>
          </a:ln>
        </p:spPr>
        <p:txBody>
          <a:bodyPr anchor="t">
            <a:noAutofit/>
          </a:bodyPr>
          <a:lstStyle/>
          <a:p>
            <a:pPr>
              <a:defRPr sz="1950" b="1">
                <a:solidFill>
                  <a:srgbClr val="087E83"/>
                </a:solidFill>
                <a:latin typeface="Arial"/>
                <a:ea typeface="Arial"/>
                <a:cs typeface="Arial"/>
              </a:defRPr>
            </a:pPr>
            <a:r>
              <a:rPr sz="1950" b="1">
                <a:solidFill>
                  <a:srgbClr val="087E83"/>
                </a:solidFill>
                <a:latin typeface="Arial"/>
                <a:ea typeface="Arial"/>
                <a:cs typeface="Arial"/>
              </a:rPr>
              <a:t>Optimization levers</a:t>
            </a:r>
          </a:p>
        </p:txBody>
      </p:sp>
      <p:sp>
        <p:nvSpPr>
          <p:cNvPr id="9" name="Rectangle 8">
            <a:extLst>
              <a:ext uri="{FF2B5EF4-FFF2-40B4-BE49-F238E27FC236}">
                <a16:creationId xmlns:a16="http://schemas.microsoft.com/office/drawing/2014/main" id="{D0F7CD3C-63A6-4A5B-A14F-BA88BF9D5932}"/>
              </a:ext>
            </a:extLst>
          </p:cNvPr>
          <p:cNvSpPr>
            <a:spLocks noGrp="1"/>
          </p:cNvSpPr>
          <p:nvPr/>
        </p:nvSpPr>
        <p:spPr>
          <a:xfrm>
            <a:off x="533400" y="5705475"/>
            <a:ext cx="7191375" cy="504825"/>
          </a:xfrm>
          <a:prstGeom prst="rect">
            <a:avLst/>
          </a:prstGeom>
          <a:noFill/>
          <a:ln w="0">
            <a:noFill/>
          </a:ln>
        </p:spPr>
        <p:txBody>
          <a:bodyPr anchor="t">
            <a:noAutofit/>
          </a:bodyPr>
          <a:lstStyle/>
          <a:p>
            <a:pPr>
              <a:defRPr sz="1650" b="0">
                <a:solidFill>
                  <a:srgbClr val="536A70"/>
                </a:solidFill>
                <a:latin typeface="Arial"/>
                <a:ea typeface="Arial"/>
                <a:cs typeface="Arial"/>
              </a:defRPr>
            </a:pPr>
            <a:r>
              <a:rPr sz="1650" b="0">
                <a:solidFill>
                  <a:srgbClr val="536A70"/>
                </a:solidFill>
                <a:latin typeface="Arial"/>
                <a:ea typeface="Arial"/>
                <a:cs typeface="Arial"/>
              </a:rPr>
              <a:t>FAQ TTL cache: 62.5% hit rate reported</a:t>
            </a:r>
          </a:p>
          <a:p>
            <a:pPr>
              <a:defRPr sz="1650" b="0">
                <a:solidFill>
                  <a:srgbClr val="536A70"/>
                </a:solidFill>
                <a:latin typeface="Arial"/>
                <a:ea typeface="Arial"/>
                <a:cs typeface="Arial"/>
              </a:defRPr>
            </a:pPr>
            <a:r>
              <a:rPr sz="1650" b="0">
                <a:solidFill>
                  <a:srgbClr val="536A70"/>
                </a:solidFill>
                <a:latin typeface="Arial"/>
                <a:ea typeface="Arial"/>
                <a:cs typeface="Arial"/>
              </a:rPr>
              <a:t>Offline batch queue for logistics updates</a:t>
            </a:r>
          </a:p>
        </p:txBody>
      </p:sp>
      <p:sp>
        <p:nvSpPr>
          <p:cNvPr id="10" name="Rectangle 9">
            <a:extLst>
              <a:ext uri="{FF2B5EF4-FFF2-40B4-BE49-F238E27FC236}">
                <a16:creationId xmlns:a16="http://schemas.microsoft.com/office/drawing/2014/main" id="{7577B976-7DB6-427F-A147-255F258D285A}"/>
              </a:ext>
            </a:extLst>
          </p:cNvPr>
          <p:cNvSpPr>
            <a:spLocks noGrp="1"/>
          </p:cNvSpPr>
          <p:nvPr/>
        </p:nvSpPr>
        <p:spPr>
          <a:xfrm>
            <a:off x="8153400" y="2047875"/>
            <a:ext cx="3524250" cy="314325"/>
          </a:xfrm>
          <a:prstGeom prst="rect">
            <a:avLst/>
          </a:prstGeom>
          <a:noFill/>
          <a:ln w="0">
            <a:noFill/>
          </a:ln>
        </p:spPr>
        <p:txBody>
          <a:bodyPr anchor="t">
            <a:noAutofit/>
          </a:bodyPr>
          <a:lstStyle/>
          <a:p>
            <a:pPr>
              <a:defRPr sz="1350" b="1">
                <a:solidFill>
                  <a:srgbClr val="087E83"/>
                </a:solidFill>
                <a:latin typeface="Arial"/>
                <a:ea typeface="Arial"/>
                <a:cs typeface="Arial"/>
              </a:defRPr>
            </a:pPr>
            <a:r>
              <a:rPr sz="1350" b="1">
                <a:solidFill>
                  <a:srgbClr val="087E83"/>
                </a:solidFill>
                <a:latin typeface="Arial"/>
                <a:ea typeface="Arial"/>
                <a:cs typeface="Arial"/>
              </a:rPr>
              <a:t>IMPLEMENTATION STATUS</a:t>
            </a:r>
          </a:p>
        </p:txBody>
      </p:sp>
      <p:sp>
        <p:nvSpPr>
          <p:cNvPr id="11" name="Rectangle 10">
            <a:extLst>
              <a:ext uri="{FF2B5EF4-FFF2-40B4-BE49-F238E27FC236}">
                <a16:creationId xmlns:a16="http://schemas.microsoft.com/office/drawing/2014/main" id="{F0978C10-D7CF-4025-A144-1630973746D6}"/>
              </a:ext>
            </a:extLst>
          </p:cNvPr>
          <p:cNvSpPr>
            <a:spLocks noGrp="1"/>
          </p:cNvSpPr>
          <p:nvPr/>
        </p:nvSpPr>
        <p:spPr>
          <a:xfrm>
            <a:off x="8153400" y="2495550"/>
            <a:ext cx="3429000" cy="361950"/>
          </a:xfrm>
          <a:prstGeom prst="rect">
            <a:avLst/>
          </a:prstGeom>
          <a:noFill/>
          <a:ln w="0">
            <a:noFill/>
          </a:ln>
        </p:spPr>
        <p:txBody>
          <a:bodyPr anchor="t">
            <a:noAutofit/>
          </a:bodyPr>
          <a:lstStyle/>
          <a:p>
            <a:pPr>
              <a:defRPr sz="1875" b="1">
                <a:solidFill>
                  <a:srgbClr val="17313A"/>
                </a:solidFill>
                <a:latin typeface="Arial"/>
                <a:ea typeface="Arial"/>
                <a:cs typeface="Arial"/>
              </a:defRPr>
            </a:pPr>
            <a:r>
              <a:rPr sz="1875" b="1">
                <a:solidFill>
                  <a:srgbClr val="17313A"/>
                </a:solidFill>
                <a:latin typeface="Arial"/>
                <a:ea typeface="Arial"/>
                <a:cs typeface="Arial"/>
              </a:rPr>
              <a:t>Reported implemented</a:t>
            </a:r>
          </a:p>
        </p:txBody>
      </p:sp>
      <p:sp>
        <p:nvSpPr>
          <p:cNvPr id="12" name="Rectangle 11">
            <a:extLst>
              <a:ext uri="{FF2B5EF4-FFF2-40B4-BE49-F238E27FC236}">
                <a16:creationId xmlns:a16="http://schemas.microsoft.com/office/drawing/2014/main" id="{2E4F15D8-D577-4524-B2FD-AB77C23DC92D}"/>
              </a:ext>
            </a:extLst>
          </p:cNvPr>
          <p:cNvSpPr>
            <a:spLocks noGrp="1"/>
          </p:cNvSpPr>
          <p:nvPr/>
        </p:nvSpPr>
        <p:spPr>
          <a:xfrm>
            <a:off x="8153400" y="2933700"/>
            <a:ext cx="3429000" cy="790575"/>
          </a:xfrm>
          <a:prstGeom prst="rect">
            <a:avLst/>
          </a:prstGeom>
          <a:noFill/>
          <a:ln w="0">
            <a:noFill/>
          </a:ln>
        </p:spPr>
        <p:txBody>
          <a:bodyPr anchor="t">
            <a:noAutofit/>
          </a:bodyPr>
          <a:lstStyle/>
          <a:p>
            <a:pPr>
              <a:defRPr sz="1725" b="0">
                <a:solidFill>
                  <a:srgbClr val="536A70"/>
                </a:solidFill>
                <a:latin typeface="Arial"/>
                <a:ea typeface="Arial"/>
                <a:cs typeface="Arial"/>
              </a:defRPr>
            </a:pPr>
            <a:r>
              <a:rPr sz="1725" b="0">
                <a:solidFill>
                  <a:srgbClr val="536A70"/>
                </a:solidFill>
                <a:latin typeface="Arial"/>
                <a:ea typeface="Arial"/>
                <a:cs typeface="Arial"/>
              </a:rPr>
              <a:t>FastAPI triage layer</a:t>
            </a:r>
          </a:p>
          <a:p>
            <a:pPr>
              <a:defRPr sz="1725" b="0">
                <a:solidFill>
                  <a:srgbClr val="536A70"/>
                </a:solidFill>
                <a:latin typeface="Arial"/>
                <a:ea typeface="Arial"/>
                <a:cs typeface="Arial"/>
              </a:defRPr>
            </a:pPr>
            <a:r>
              <a:rPr sz="1725" b="0">
                <a:solidFill>
                  <a:srgbClr val="536A70"/>
                </a:solidFill>
                <a:latin typeface="Arial"/>
                <a:ea typeface="Arial"/>
                <a:cs typeface="Arial"/>
              </a:rPr>
              <a:t>Logging fix and smoke checks</a:t>
            </a:r>
          </a:p>
        </p:txBody>
      </p:sp>
      <p:sp>
        <p:nvSpPr>
          <p:cNvPr id="13" name="Rectangle 12">
            <a:extLst>
              <a:ext uri="{FF2B5EF4-FFF2-40B4-BE49-F238E27FC236}">
                <a16:creationId xmlns:a16="http://schemas.microsoft.com/office/drawing/2014/main" id="{F050377E-F284-4D7E-A381-42815DBF341E}"/>
              </a:ext>
            </a:extLst>
          </p:cNvPr>
          <p:cNvSpPr>
            <a:spLocks noGrp="1"/>
          </p:cNvSpPr>
          <p:nvPr/>
        </p:nvSpPr>
        <p:spPr>
          <a:xfrm>
            <a:off x="8153400" y="3943350"/>
            <a:ext cx="3429000" cy="361950"/>
          </a:xfrm>
          <a:prstGeom prst="rect">
            <a:avLst/>
          </a:prstGeom>
          <a:noFill/>
          <a:ln w="0">
            <a:noFill/>
          </a:ln>
        </p:spPr>
        <p:txBody>
          <a:bodyPr anchor="t">
            <a:noAutofit/>
          </a:bodyPr>
          <a:lstStyle/>
          <a:p>
            <a:pPr>
              <a:defRPr sz="1875" b="1">
                <a:solidFill>
                  <a:srgbClr val="17313A"/>
                </a:solidFill>
                <a:latin typeface="Arial"/>
                <a:ea typeface="Arial"/>
                <a:cs typeface="Arial"/>
              </a:defRPr>
            </a:pPr>
            <a:r>
              <a:rPr sz="1875" b="1">
                <a:solidFill>
                  <a:srgbClr val="17313A"/>
                </a:solidFill>
                <a:latin typeface="Arial"/>
                <a:ea typeface="Arial"/>
                <a:cs typeface="Arial"/>
              </a:rPr>
              <a:t>Declared fallbacks</a:t>
            </a:r>
          </a:p>
        </p:txBody>
      </p:sp>
      <p:sp>
        <p:nvSpPr>
          <p:cNvPr id="14" name="Rectangle 13">
            <a:extLst>
              <a:ext uri="{FF2B5EF4-FFF2-40B4-BE49-F238E27FC236}">
                <a16:creationId xmlns:a16="http://schemas.microsoft.com/office/drawing/2014/main" id="{3520D420-92D0-49B8-B659-E4EFF14625B6}"/>
              </a:ext>
            </a:extLst>
          </p:cNvPr>
          <p:cNvSpPr>
            <a:spLocks noGrp="1"/>
          </p:cNvSpPr>
          <p:nvPr/>
        </p:nvSpPr>
        <p:spPr>
          <a:xfrm>
            <a:off x="8153400" y="4371975"/>
            <a:ext cx="3429000" cy="923925"/>
          </a:xfrm>
          <a:prstGeom prst="rect">
            <a:avLst/>
          </a:prstGeom>
          <a:noFill/>
          <a:ln w="0">
            <a:noFill/>
          </a:ln>
        </p:spPr>
        <p:txBody>
          <a:bodyPr anchor="t">
            <a:noAutofit/>
          </a:bodyPr>
          <a:lstStyle/>
          <a:p>
            <a:pPr>
              <a:defRPr sz="1725" b="0">
                <a:solidFill>
                  <a:srgbClr val="536A70"/>
                </a:solidFill>
                <a:latin typeface="Arial"/>
                <a:ea typeface="Arial"/>
                <a:cs typeface="Arial"/>
              </a:defRPr>
            </a:pPr>
            <a:r>
              <a:rPr sz="1725" b="0">
                <a:solidFill>
                  <a:srgbClr val="536A70"/>
                </a:solidFill>
                <a:latin typeface="Arial"/>
                <a:ea typeface="Arial"/>
                <a:cs typeface="Arial"/>
              </a:rPr>
              <a:t>Local MCP stub</a:t>
            </a:r>
          </a:p>
          <a:p>
            <a:pPr>
              <a:defRPr sz="1725" b="0">
                <a:solidFill>
                  <a:srgbClr val="536A70"/>
                </a:solidFill>
                <a:latin typeface="Arial"/>
                <a:ea typeface="Arial"/>
                <a:cs typeface="Arial"/>
              </a:defRPr>
            </a:pPr>
            <a:r>
              <a:rPr sz="1725" b="0">
                <a:solidFill>
                  <a:srgbClr val="536A70"/>
                </a:solidFill>
                <a:latin typeface="Arial"/>
                <a:ea typeface="Arial"/>
                <a:cs typeface="Arial"/>
              </a:rPr>
              <a:t>Local-env plus twin JSON</a:t>
            </a:r>
          </a:p>
          <a:p>
            <a:pPr>
              <a:defRPr sz="1725" b="0">
                <a:solidFill>
                  <a:srgbClr val="536A70"/>
                </a:solidFill>
                <a:latin typeface="Arial"/>
                <a:ea typeface="Arial"/>
                <a:cs typeface="Arial"/>
              </a:defRPr>
            </a:pPr>
            <a:r>
              <a:rPr sz="1725" b="0">
                <a:solidFill>
                  <a:srgbClr val="536A70"/>
                </a:solidFill>
                <a:latin typeface="Arial"/>
                <a:ea typeface="Arial"/>
                <a:cs typeface="Arial"/>
              </a:rPr>
              <a:t>No Azure Key Vault or AWS</a:t>
            </a:r>
          </a:p>
        </p:txBody>
      </p:sp>
      <p:sp>
        <p:nvSpPr>
          <p:cNvPr id="15" name="Rectangle 14">
            <a:extLst>
              <a:ext uri="{FF2B5EF4-FFF2-40B4-BE49-F238E27FC236}">
                <a16:creationId xmlns:a16="http://schemas.microsoft.com/office/drawing/2014/main" id="{1A2A30D9-86BC-4AF3-932F-CEF48EA5246A}"/>
              </a:ext>
            </a:extLst>
          </p:cNvPr>
          <p:cNvSpPr>
            <a:spLocks noGrp="1"/>
          </p:cNvSpPr>
          <p:nvPr/>
        </p:nvSpPr>
        <p:spPr>
          <a:xfrm>
            <a:off x="8153400" y="5314950"/>
            <a:ext cx="3429000" cy="333375"/>
          </a:xfrm>
          <a:prstGeom prst="rect">
            <a:avLst/>
          </a:prstGeom>
          <a:noFill/>
          <a:ln w="0">
            <a:noFill/>
          </a:ln>
        </p:spPr>
        <p:txBody>
          <a:bodyPr anchor="t">
            <a:noAutofit/>
          </a:bodyPr>
          <a:lstStyle/>
          <a:p>
            <a:pPr>
              <a:defRPr sz="1875" b="1">
                <a:solidFill>
                  <a:srgbClr val="9A5B19"/>
                </a:solidFill>
                <a:latin typeface="Arial"/>
                <a:ea typeface="Arial"/>
                <a:cs typeface="Arial"/>
              </a:defRPr>
            </a:pPr>
            <a:r>
              <a:rPr sz="1875" b="1">
                <a:solidFill>
                  <a:srgbClr val="9A5B19"/>
                </a:solidFill>
                <a:latin typeface="Arial"/>
                <a:ea typeface="Arial"/>
                <a:cs typeface="Arial"/>
              </a:rPr>
              <a:t>Open checkpoints</a:t>
            </a:r>
          </a:p>
        </p:txBody>
      </p:sp>
      <p:sp>
        <p:nvSpPr>
          <p:cNvPr id="16" name="Rectangle 15">
            <a:extLst>
              <a:ext uri="{FF2B5EF4-FFF2-40B4-BE49-F238E27FC236}">
                <a16:creationId xmlns:a16="http://schemas.microsoft.com/office/drawing/2014/main" id="{671733E1-889F-43EC-82BA-48D58E8B0477}"/>
              </a:ext>
            </a:extLst>
          </p:cNvPr>
          <p:cNvSpPr>
            <a:spLocks noGrp="1"/>
          </p:cNvSpPr>
          <p:nvPr/>
        </p:nvSpPr>
        <p:spPr>
          <a:xfrm>
            <a:off x="8153400" y="5715000"/>
            <a:ext cx="3429000" cy="466725"/>
          </a:xfrm>
          <a:prstGeom prst="rect">
            <a:avLst/>
          </a:prstGeom>
          <a:noFill/>
          <a:ln w="0">
            <a:noFill/>
          </a:ln>
        </p:spPr>
        <p:txBody>
          <a:bodyPr anchor="t">
            <a:noAutofit/>
          </a:bodyPr>
          <a:lstStyle/>
          <a:p>
            <a:pPr>
              <a:defRPr sz="1575" b="0">
                <a:solidFill>
                  <a:srgbClr val="9A5B19"/>
                </a:solidFill>
                <a:latin typeface="Arial"/>
                <a:ea typeface="Arial"/>
                <a:cs typeface="Arial"/>
              </a:defRPr>
            </a:pPr>
            <a:r>
              <a:rPr sz="1575" b="0">
                <a:solidFill>
                  <a:srgbClr val="9A5B19"/>
                </a:solidFill>
                <a:latin typeface="Arial"/>
                <a:ea typeface="Arial"/>
                <a:cs typeface="Arial"/>
              </a:rPr>
              <a:t>Lawful-basis review</a:t>
            </a:r>
          </a:p>
          <a:p>
            <a:pPr>
              <a:defRPr sz="1575" b="0">
                <a:solidFill>
                  <a:srgbClr val="9A5B19"/>
                </a:solidFill>
                <a:latin typeface="Arial"/>
                <a:ea typeface="Arial"/>
                <a:cs typeface="Arial"/>
              </a:defRPr>
            </a:pPr>
            <a:r>
              <a:rPr sz="1575" b="0">
                <a:solidFill>
                  <a:srgbClr val="9A5B19"/>
                </a:solidFill>
                <a:latin typeface="Arial"/>
                <a:ea typeface="Arial"/>
                <a:cs typeface="Arial"/>
              </a:rPr>
              <a:t>Demo and run evidence</a:t>
            </a:r>
          </a:p>
        </p:txBody>
      </p:sp>
    </p:spTree>
    <p:extLst>
      <p:ext uri="{BB962C8B-B14F-4D97-AF65-F5344CB8AC3E}">
        <p14:creationId xmlns:p14="http://schemas.microsoft.com/office/powerpoint/2010/main" val="152121212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1589</Words>
  <Application>Microsoft Macintosh PowerPoint</Application>
  <PresentationFormat>Widescreen</PresentationFormat>
  <Paragraphs>199</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Consolas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Collins Muniu</dc:creator>
  <cp:lastModifiedBy>Collins Muniu</cp:lastModifiedBy>
  <cp:revision>1</cp:revision>
  <dcterms:created xsi:type="dcterms:W3CDTF">2026-10-13T22:08:56Z</dcterms:created>
  <dcterms:modified xsi:type="dcterms:W3CDTF">2026-10-13T22:36:29Z</dcterms:modified>
</cp:coreProperties>
</file>